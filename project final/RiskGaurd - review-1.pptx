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4" r:id="rId10"/>
    <p:sldId id="265" r:id="rId11"/>
    <p:sldId id="266" r:id="rId12"/>
    <p:sldId id="262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>
      <p:cViewPr varScale="1">
        <p:scale>
          <a:sx n="78" d="100"/>
          <a:sy n="78" d="100"/>
        </p:scale>
        <p:origin x="137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998" y="3171235"/>
            <a:ext cx="4500388" cy="5803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0702" y="478663"/>
            <a:ext cx="602259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8124" y="1770634"/>
            <a:ext cx="8030845" cy="405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7317" y="2600401"/>
            <a:ext cx="34277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RISK</a:t>
            </a:r>
            <a:r>
              <a:rPr spc="-30" dirty="0"/>
              <a:t> </a:t>
            </a:r>
            <a:r>
              <a:rPr spc="-10" dirty="0"/>
              <a:t>GUARD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4744" y="3456508"/>
            <a:ext cx="5990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88888"/>
                </a:solidFill>
                <a:latin typeface="Times New Roman"/>
                <a:cs typeface="Times New Roman"/>
              </a:rPr>
              <a:t>AI</a:t>
            </a:r>
            <a:r>
              <a:rPr sz="3200" spc="-1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888888"/>
                </a:solidFill>
                <a:latin typeface="Times New Roman"/>
                <a:cs typeface="Times New Roman"/>
              </a:rPr>
              <a:t>Deepfake</a:t>
            </a:r>
            <a:r>
              <a:rPr sz="3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888888"/>
                </a:solidFill>
                <a:latin typeface="Times New Roman"/>
                <a:cs typeface="Times New Roman"/>
              </a:rPr>
              <a:t>Risk</a:t>
            </a:r>
            <a:r>
              <a:rPr sz="3200" spc="-1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888888"/>
                </a:solidFill>
                <a:latin typeface="Times New Roman"/>
                <a:cs typeface="Times New Roman"/>
              </a:rPr>
              <a:t>Analysis</a:t>
            </a:r>
            <a:r>
              <a:rPr sz="3200" spc="-2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Times New Roman"/>
                <a:cs typeface="Times New Roman"/>
              </a:rPr>
              <a:t>Platform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42487" y="226062"/>
            <a:ext cx="5586730" cy="1431290"/>
            <a:chOff x="1842487" y="226062"/>
            <a:chExt cx="5586730" cy="1431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2487" y="226062"/>
              <a:ext cx="5586279" cy="3548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6291" y="443484"/>
              <a:ext cx="4600194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4683" y="870204"/>
              <a:ext cx="3143249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827" y="870204"/>
              <a:ext cx="585977" cy="787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9615" y="870204"/>
              <a:ext cx="1536954" cy="7871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829816" y="114427"/>
            <a:ext cx="55994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Erode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Sengunthar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Engineering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College (An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Autonomous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Institution) </a:t>
            </a:r>
            <a:r>
              <a:rPr sz="2800" dirty="0">
                <a:latin typeface="Times New Roman"/>
                <a:cs typeface="Times New Roman"/>
              </a:rPr>
              <a:t>Perundurai,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Erode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638057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1668" y="93522"/>
            <a:ext cx="1253363" cy="10991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96936" y="253590"/>
            <a:ext cx="1512951" cy="105841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00853" y="5027752"/>
            <a:ext cx="1896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50366" y="5340349"/>
          <a:ext cx="7689850" cy="803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Mr.Narendran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R,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Abi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Prasath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ts val="1964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(730422205002)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Assistant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Professor,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203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Harija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ts val="2035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(730422205023)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Technology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1989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Hemabala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 algn="ctr">
                        <a:lnSpc>
                          <a:spcPts val="1989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(730422205030)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69416" y="5031740"/>
            <a:ext cx="304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UNDER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GUIDANCE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9789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6465"/>
            <a:ext cx="7833359" cy="434340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Rapid growth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Generative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enables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realistic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synthetic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imes New Roman"/>
                <a:cs typeface="Times New Roman"/>
              </a:rPr>
              <a:t>media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like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voice,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images,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videos,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text.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deepfake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scams,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misinformation,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identity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impersonation.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15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 like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RiskGuard.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067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168" y="1574753"/>
            <a:ext cx="7839709" cy="452628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RiskGuard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unified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detecting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spc="-20" dirty="0">
                <a:latin typeface="Times New Roman"/>
                <a:cs typeface="Times New Roman"/>
              </a:rPr>
              <a:t>AI-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audio,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video,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image,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text.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10"/>
              </a:spcBef>
            </a:pPr>
            <a:endParaRPr sz="2400">
              <a:latin typeface="Times New Roman"/>
              <a:cs typeface="Times New Roman"/>
            </a:endParaRPr>
          </a:p>
          <a:p>
            <a:pPr marL="355600" marR="514984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hybrid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edge-cloud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architecture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accurate detection.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marR="147955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privacy-first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processing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protection </a:t>
            </a:r>
            <a:r>
              <a:rPr sz="2400" dirty="0">
                <a:latin typeface="Times New Roman"/>
                <a:cs typeface="Times New Roman"/>
              </a:rPr>
              <a:t>against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AI-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threats.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0545">
              <a:lnSpc>
                <a:spcPct val="100000"/>
              </a:lnSpc>
              <a:spcBef>
                <a:spcPts val="105"/>
              </a:spcBef>
            </a:pPr>
            <a:r>
              <a:rPr dirty="0"/>
              <a:t>EXISTING</a:t>
            </a:r>
            <a:r>
              <a:rPr spc="-8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8063"/>
            <a:ext cx="7677150" cy="470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87325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Single-modality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(only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audio,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image,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text </a:t>
            </a:r>
            <a:r>
              <a:rPr sz="2400" spc="-10" dirty="0">
                <a:latin typeface="Times New Roman"/>
                <a:cs typeface="Times New Roman"/>
              </a:rPr>
              <a:t>separately).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Mostly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cloud-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 detection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 </a:t>
            </a:r>
            <a:r>
              <a:rPr sz="2400" spc="-10" dirty="0">
                <a:latin typeface="Times New Roman"/>
                <a:cs typeface="Times New Roman"/>
              </a:rPr>
              <a:t>upload.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verification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analysis.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Limited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deepfake detection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spam/phishing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filters.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000"/>
              </a:lnSpc>
              <a:spcBef>
                <a:spcPts val="9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multi-</a:t>
            </a:r>
            <a:r>
              <a:rPr sz="2400" dirty="0">
                <a:latin typeface="Times New Roman"/>
                <a:cs typeface="Times New Roman"/>
              </a:rPr>
              <a:t>modal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privacy-</a:t>
            </a:r>
            <a:r>
              <a:rPr sz="2400" dirty="0">
                <a:latin typeface="Times New Roman"/>
                <a:cs typeface="Times New Roman"/>
              </a:rPr>
              <a:t>focused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processing.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30" dirty="0"/>
              <a:t> </a:t>
            </a:r>
            <a:r>
              <a:rPr spc="-9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500" y="2076450"/>
            <a:ext cx="806132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indent="-241935">
              <a:lnSpc>
                <a:spcPct val="100000"/>
              </a:lnSpc>
              <a:spcBef>
                <a:spcPts val="100"/>
              </a:spcBef>
              <a:buChar char="•"/>
              <a:tabLst>
                <a:tab pos="254635" algn="l"/>
              </a:tabLst>
            </a:pP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cloning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impersonation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attacks.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71780" indent="-259079">
              <a:lnSpc>
                <a:spcPct val="100000"/>
              </a:lnSpc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Deepfake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videos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spreading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misinformation.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54635" indent="-241935">
              <a:lnSpc>
                <a:spcPct val="100000"/>
              </a:lnSpc>
              <a:buChar char="•"/>
              <a:tabLst>
                <a:tab pos="254635" algn="l"/>
              </a:tabLst>
            </a:pPr>
            <a:r>
              <a:rPr sz="2400" spc="-20" dirty="0">
                <a:latin typeface="Times New Roman"/>
                <a:cs typeface="Times New Roman"/>
              </a:rPr>
              <a:t>AI-</a:t>
            </a:r>
            <a:r>
              <a:rPr sz="2400" dirty="0">
                <a:latin typeface="Times New Roman"/>
                <a:cs typeface="Times New Roman"/>
              </a:rPr>
              <a:t>generated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phishing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engineering.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71780" indent="-259079">
              <a:lnSpc>
                <a:spcPct val="100000"/>
              </a:lnSpc>
              <a:spcBef>
                <a:spcPts val="5"/>
              </a:spcBef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tools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media</a:t>
            </a:r>
            <a:r>
              <a:rPr sz="2400" spc="-10" dirty="0">
                <a:latin typeface="Times New Roman"/>
                <a:cs typeface="Times New Roman"/>
              </a:rPr>
              <a:t> types.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Times New Roman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271780" indent="-259079">
              <a:lnSpc>
                <a:spcPct val="100000"/>
              </a:lnSpc>
              <a:spcBef>
                <a:spcPts val="5"/>
              </a:spcBef>
              <a:buChar char="•"/>
              <a:tabLst>
                <a:tab pos="271780" algn="l"/>
              </a:tabLst>
            </a:pPr>
            <a:r>
              <a:rPr sz="2400" dirty="0">
                <a:latin typeface="Times New Roman"/>
                <a:cs typeface="Times New Roman"/>
              </a:rPr>
              <a:t>Privacy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cloud-only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4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pc="-10" dirty="0"/>
              <a:t>Real-</a:t>
            </a:r>
            <a:r>
              <a:rPr dirty="0"/>
              <a:t>time</a:t>
            </a:r>
            <a:r>
              <a:rPr spc="-35" dirty="0"/>
              <a:t> </a:t>
            </a:r>
            <a:r>
              <a:rPr dirty="0"/>
              <a:t>detection</a:t>
            </a:r>
            <a:r>
              <a:rPr spc="-40" dirty="0"/>
              <a:t> </a:t>
            </a:r>
            <a:r>
              <a:rPr dirty="0"/>
              <a:t>across</a:t>
            </a:r>
            <a:r>
              <a:rPr spc="-10" dirty="0"/>
              <a:t> </a:t>
            </a:r>
            <a:r>
              <a:rPr dirty="0"/>
              <a:t>audio,</a:t>
            </a:r>
            <a:r>
              <a:rPr spc="-20" dirty="0"/>
              <a:t> </a:t>
            </a:r>
            <a:r>
              <a:rPr dirty="0"/>
              <a:t>image, video,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text.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pc="-10" dirty="0"/>
          </a:p>
          <a:p>
            <a:pPr marL="271145" indent="-258445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dirty="0"/>
              <a:t>Hybrid</a:t>
            </a:r>
            <a:r>
              <a:rPr spc="-10" dirty="0"/>
              <a:t> edge-</a:t>
            </a:r>
            <a:r>
              <a:rPr dirty="0"/>
              <a:t>cloud</a:t>
            </a:r>
            <a:r>
              <a:rPr spc="-35" dirty="0"/>
              <a:t> </a:t>
            </a:r>
            <a:r>
              <a:rPr dirty="0"/>
              <a:t>processing</a:t>
            </a:r>
            <a:r>
              <a:rPr spc="-30" dirty="0"/>
              <a:t> </a:t>
            </a:r>
            <a:r>
              <a:rPr dirty="0"/>
              <a:t>for speed</a:t>
            </a:r>
            <a:r>
              <a:rPr spc="-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accuracy.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pc="-10" dirty="0"/>
          </a:p>
          <a:p>
            <a:pPr marL="271145" indent="-258445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dirty="0"/>
              <a:t>Local</a:t>
            </a:r>
            <a:r>
              <a:rPr spc="-35" dirty="0"/>
              <a:t> </a:t>
            </a:r>
            <a:r>
              <a:rPr dirty="0"/>
              <a:t>lightweight</a:t>
            </a:r>
            <a:r>
              <a:rPr spc="-40" dirty="0"/>
              <a:t> </a:t>
            </a:r>
            <a:r>
              <a:rPr dirty="0"/>
              <a:t>models</a:t>
            </a:r>
            <a:r>
              <a:rPr spc="-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instant</a:t>
            </a:r>
            <a:r>
              <a:rPr spc="-40" dirty="0"/>
              <a:t> </a:t>
            </a:r>
            <a:r>
              <a:rPr spc="-10" dirty="0"/>
              <a:t>screening.</a:t>
            </a:r>
          </a:p>
          <a:p>
            <a:pPr>
              <a:lnSpc>
                <a:spcPct val="100000"/>
              </a:lnSpc>
              <a:spcBef>
                <a:spcPts val="125"/>
              </a:spcBef>
              <a:buFont typeface="Times New Roman"/>
              <a:buChar char="•"/>
            </a:pPr>
            <a:endParaRPr spc="-10" dirty="0"/>
          </a:p>
          <a:p>
            <a:pPr marL="271145" indent="-258445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pc="-10" dirty="0"/>
              <a:t>Cloud-</a:t>
            </a:r>
            <a:r>
              <a:rPr dirty="0"/>
              <a:t>based</a:t>
            </a:r>
            <a:r>
              <a:rPr spc="-15" dirty="0"/>
              <a:t> </a:t>
            </a:r>
            <a:r>
              <a:rPr dirty="0"/>
              <a:t>deep analysis</a:t>
            </a:r>
            <a:r>
              <a:rPr spc="-30" dirty="0"/>
              <a:t> </a:t>
            </a:r>
            <a:r>
              <a:rPr dirty="0"/>
              <a:t>when</a:t>
            </a:r>
            <a:r>
              <a:rPr spc="5" dirty="0"/>
              <a:t> </a:t>
            </a:r>
            <a:r>
              <a:rPr dirty="0"/>
              <a:t>uncertainty</a:t>
            </a:r>
            <a:r>
              <a:rPr spc="-30" dirty="0"/>
              <a:t> </a:t>
            </a:r>
            <a:r>
              <a:rPr spc="-10" dirty="0"/>
              <a:t>exists.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pc="-10" dirty="0"/>
          </a:p>
          <a:p>
            <a:pPr marL="254635" indent="-241935">
              <a:lnSpc>
                <a:spcPct val="100000"/>
              </a:lnSpc>
              <a:buChar char="•"/>
              <a:tabLst>
                <a:tab pos="254635" algn="l"/>
              </a:tabLst>
            </a:pPr>
            <a:r>
              <a:rPr spc="-10" dirty="0"/>
              <a:t>Accessibility-</a:t>
            </a:r>
            <a:r>
              <a:rPr dirty="0"/>
              <a:t>based</a:t>
            </a:r>
            <a:r>
              <a:rPr spc="-10" dirty="0"/>
              <a:t> </a:t>
            </a:r>
            <a:r>
              <a:rPr dirty="0"/>
              <a:t>proactive</a:t>
            </a:r>
            <a:r>
              <a:rPr spc="-25" dirty="0"/>
              <a:t> </a:t>
            </a:r>
            <a:r>
              <a:rPr dirty="0"/>
              <a:t>monitoring</a:t>
            </a:r>
            <a:r>
              <a:rPr spc="1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daily</a:t>
            </a:r>
            <a:r>
              <a:rPr spc="-5" dirty="0"/>
              <a:t> </a:t>
            </a:r>
            <a:r>
              <a:rPr spc="-10" dirty="0"/>
              <a:t>applications.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Times New Roman"/>
              <a:buChar char="•"/>
            </a:pPr>
            <a:endParaRPr spc="-10" dirty="0"/>
          </a:p>
          <a:p>
            <a:pPr marL="271145" indent="-258445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dirty="0"/>
              <a:t>Risk</a:t>
            </a:r>
            <a:r>
              <a:rPr spc="-10" dirty="0"/>
              <a:t> </a:t>
            </a:r>
            <a:r>
              <a:rPr dirty="0"/>
              <a:t>scoring</a:t>
            </a:r>
            <a:r>
              <a:rPr spc="-30" dirty="0"/>
              <a:t> </a:t>
            </a:r>
            <a:r>
              <a:rPr dirty="0"/>
              <a:t>system</a:t>
            </a:r>
            <a:r>
              <a:rPr spc="-15" dirty="0"/>
              <a:t> </a:t>
            </a:r>
            <a:r>
              <a:rPr dirty="0"/>
              <a:t>instead</a:t>
            </a:r>
            <a:r>
              <a:rPr spc="-25" dirty="0"/>
              <a:t> </a:t>
            </a:r>
            <a:r>
              <a:rPr dirty="0"/>
              <a:t>of simple</a:t>
            </a:r>
            <a:r>
              <a:rPr spc="-10" dirty="0"/>
              <a:t> </a:t>
            </a:r>
            <a:r>
              <a:rPr dirty="0"/>
              <a:t>binary</a:t>
            </a:r>
            <a:r>
              <a:rPr spc="-20" dirty="0"/>
              <a:t> </a:t>
            </a:r>
            <a:r>
              <a:rPr spc="-10" dirty="0"/>
              <a:t>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653D-872B-DD9E-96A6-458815A6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24" y="228599"/>
            <a:ext cx="8030844" cy="677108"/>
          </a:xfrm>
        </p:spPr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48C8B-3C72-1AB8-F3E6-C30F639DF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24" y="1770634"/>
            <a:ext cx="8030845" cy="4801314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Flutter mobile application for user interaction.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FastAPI</a:t>
            </a:r>
            <a:r>
              <a:rPr lang="en-GB" dirty="0"/>
              <a:t> backend for processing requests.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AI detection engine for media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IPFS for decentralized evidence storage.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Polygon blockchain for tamper-proof records.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Investigator dashboard for monitoring threats.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597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9854-47A2-55E6-62AE-E1FE6F4F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24" y="190881"/>
            <a:ext cx="8272476" cy="677108"/>
          </a:xfrm>
        </p:spPr>
        <p:txBody>
          <a:bodyPr/>
          <a:lstStyle/>
          <a:p>
            <a:pPr algn="ctr"/>
            <a:r>
              <a:rPr lang="en-IN" dirty="0"/>
              <a:t>ARCHITECTURE DIAGRAM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F1641-C99F-A49F-3626-98043A1CA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1E201E-3DE8-A5E9-8B93-772BB36A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1" y="1295400"/>
            <a:ext cx="8577276" cy="468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418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0974-5408-8996-BBE4-382ACB6FB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24" y="152400"/>
            <a:ext cx="8272476" cy="677108"/>
          </a:xfrm>
        </p:spPr>
        <p:txBody>
          <a:bodyPr/>
          <a:lstStyle/>
          <a:p>
            <a:pPr algn="ctr"/>
            <a:r>
              <a:rPr lang="en-GB" dirty="0"/>
              <a:t>AI DETECTION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797C5-9F3D-E48F-5113-03E67419C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24" y="1770634"/>
            <a:ext cx="8030845" cy="3323987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Image Detection</a:t>
            </a:r>
            <a:r>
              <a:rPr lang="en-GB" dirty="0"/>
              <a:t> – Noise pattern &amp; frequency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Voice Detection</a:t>
            </a:r>
            <a:r>
              <a:rPr lang="en-GB" dirty="0"/>
              <a:t> – LFCC and pitch pattern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Text Detection</a:t>
            </a:r>
            <a:r>
              <a:rPr lang="en-GB" dirty="0"/>
              <a:t> – Transformer-based AI detection.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Video Detection</a:t>
            </a:r>
            <a:r>
              <a:rPr lang="en-GB" dirty="0"/>
              <a:t> – Frame analysis + temporal consistency.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61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CA21-9647-0FFC-E9B1-408A7230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305800" cy="1354217"/>
          </a:xfrm>
        </p:spPr>
        <p:txBody>
          <a:bodyPr/>
          <a:lstStyle/>
          <a:p>
            <a:pPr algn="ctr"/>
            <a:r>
              <a:rPr lang="en-GB" dirty="0"/>
              <a:t>BLOCKCHAIN EVIDENCE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AB336-37A3-E403-37CD-2C3D88A46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24" y="1770634"/>
            <a:ext cx="8030845" cy="4319452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/>
              <a:t>File hashed using </a:t>
            </a:r>
            <a:r>
              <a:rPr lang="en-GB" b="1" dirty="0"/>
              <a:t>SHA-256.</a:t>
            </a:r>
            <a:endParaRPr lang="en-GB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/>
              <a:t>Evidence stored in </a:t>
            </a:r>
            <a:r>
              <a:rPr lang="en-GB" b="1" dirty="0"/>
              <a:t>IPFS.</a:t>
            </a:r>
            <a:endParaRPr lang="en-GB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/>
              <a:t>Metadata saved in local database.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/>
              <a:t>Evidence grouped using </a:t>
            </a:r>
            <a:r>
              <a:rPr lang="en-GB" b="1" dirty="0"/>
              <a:t>Merkle Tree.</a:t>
            </a:r>
            <a:endParaRPr lang="en-GB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/>
              <a:t>Root hash anchored on </a:t>
            </a:r>
            <a:r>
              <a:rPr lang="en-GB" b="1" dirty="0"/>
              <a:t>Polygon Blockchain.</a:t>
            </a:r>
            <a:endParaRPr lang="en-GB" dirty="0"/>
          </a:p>
          <a:p>
            <a:pPr>
              <a:lnSpc>
                <a:spcPct val="20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13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2D99-710C-5ABB-624F-53138744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5E42F-C71A-38AA-7973-F82BBA429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24" y="1770634"/>
            <a:ext cx="8030845" cy="4801314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Multi-modal AI content detection.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Real-time deepfake risk analysis.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Hybrid </a:t>
            </a:r>
            <a:r>
              <a:rPr lang="en-GB" b="1" dirty="0"/>
              <a:t>edge + cloud architecture.</a:t>
            </a:r>
            <a:endParaRPr lang="en-GB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Blockchain-based evidence verification.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Privacy-first local preprocessing.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Lightweight system for standard hardware.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75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1738" y="2928569"/>
            <a:ext cx="45104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THANK</a:t>
            </a:r>
            <a:r>
              <a:rPr sz="6000" spc="-330" dirty="0"/>
              <a:t> </a:t>
            </a:r>
            <a:r>
              <a:rPr sz="6000" spc="-25" dirty="0"/>
              <a:t>YOU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437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MT</vt:lpstr>
      <vt:lpstr>Times New Roman</vt:lpstr>
      <vt:lpstr>Office Theme</vt:lpstr>
      <vt:lpstr>RISK GUARD</vt:lpstr>
      <vt:lpstr>INTRODUCTION</vt:lpstr>
      <vt:lpstr>ABSTRACT</vt:lpstr>
      <vt:lpstr>EXISTING SYSTEM</vt:lpstr>
      <vt:lpstr>PROBLEM STATEMENT</vt:lpstr>
      <vt:lpstr>PROPOSED SOLUTION</vt:lpstr>
      <vt:lpstr>SYSTEM ARCHITECTURE</vt:lpstr>
      <vt:lpstr>ARCHITECTURE DIAGRAM</vt:lpstr>
      <vt:lpstr>AI DETECTION MODULES</vt:lpstr>
      <vt:lpstr>BLOCKCHAIN EVIDENCE SYSTEM</vt:lpstr>
      <vt:lpstr>KEY FEATURES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GUARD</dc:title>
  <dc:creator>MASOOM RAJA</dc:creator>
  <cp:lastModifiedBy>S0369232</cp:lastModifiedBy>
  <cp:revision>1</cp:revision>
  <dcterms:created xsi:type="dcterms:W3CDTF">2026-03-14T04:50:29Z</dcterms:created>
  <dcterms:modified xsi:type="dcterms:W3CDTF">2026-03-14T05:13:12Z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2026-03-14T00:00:00Z</vt:filetime>
  </property>
  <property fmtid="{D5CDD505-2E9C-101B-9397-08002B2CF9AE}" pid="5" name="Producer">
    <vt:lpwstr>Microsoft® PowerPoint® 2021</vt:lpwstr>
  </property>
</Properties>
</file>