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RISKGUARD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A Multi-Modal AI Deepfake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242" y="93507"/>
            <a:ext cx="90257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latin typeface="Times New Roman"/>
              </a:rPr>
              <a:t>Erode Sengunthar Engineering College</a:t>
            </a:r>
          </a:p>
          <a:p>
            <a:pPr algn="ctr"/>
            <a:r>
              <a:rPr sz="2400">
                <a:latin typeface="Times New Roman"/>
              </a:rPr>
              <a:t>(An Autonomous Institution)</a:t>
            </a:r>
          </a:p>
          <a:p>
            <a:pPr algn="ctr"/>
            <a:r>
              <a:rPr sz="2000">
                <a:latin typeface="Times New Roman"/>
              </a:rPr>
              <a:t>Perundurai, Erode - 638057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68" y="93522"/>
            <a:ext cx="1253363" cy="1099134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936" y="253590"/>
            <a:ext cx="1512951" cy="1058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1662" y="4462273"/>
            <a:ext cx="439006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latin typeface="Times New Roman"/>
              </a:rPr>
              <a:t>UNDER THE GUIDANCE OF</a:t>
            </a:r>
          </a:p>
          <a:p>
            <a:pPr algn="l"/>
            <a:r>
              <a:rPr sz="2000">
                <a:latin typeface="Times New Roman"/>
              </a:rPr>
              <a:t>Mr. R. Narendran, B.E., M.E., (Ph.D).,</a:t>
            </a:r>
          </a:p>
          <a:p>
            <a:pPr algn="l"/>
            <a:r>
              <a:rPr sz="2000">
                <a:latin typeface="Times New Roman"/>
              </a:rPr>
              <a:t>Assistant Professor,</a:t>
            </a:r>
          </a:p>
          <a:p>
            <a:pPr algn="l"/>
            <a:r>
              <a:rPr sz="2000">
                <a:latin typeface="Times New Roman"/>
              </a:rPr>
              <a:t>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8344" y="4462273"/>
            <a:ext cx="3657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latin typeface="Times New Roman"/>
              </a:rPr>
              <a:t>PRESENTED BY</a:t>
            </a:r>
          </a:p>
          <a:p>
            <a:pPr algn="l"/>
            <a:r>
              <a:rPr sz="2000">
                <a:latin typeface="Times New Roman"/>
              </a:rPr>
              <a:t>Abi Prasath R          730422205002</a:t>
            </a:r>
          </a:p>
          <a:p>
            <a:pPr algn="l"/>
            <a:r>
              <a:rPr sz="2000">
                <a:latin typeface="Times New Roman"/>
              </a:rPr>
              <a:t>Harija A                   730422205023</a:t>
            </a:r>
          </a:p>
          <a:p>
            <a:pPr algn="l"/>
            <a:r>
              <a:rPr sz="2000">
                <a:latin typeface="Times New Roman"/>
              </a:rPr>
              <a:t>Hemabala S P           730422205030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AI-generated media poses escalating threats to digital trust and public safety.</a:t>
            </a:r>
          </a:p>
          <a:p>
            <a:r>
              <a:rPr>
                <a:latin typeface="Times New Roman"/>
              </a:rPr>
              <a:t>Deepfake images, cloned voices, AI-authored phishing text are increasingly realistic.</a:t>
            </a:r>
          </a:p>
          <a:p>
            <a:r>
              <a:rPr>
                <a:latin typeface="Times New Roman"/>
              </a:rPr>
              <a:t>Traditional systems cannot distinguish authentic content from synthetic media.</a:t>
            </a:r>
          </a:p>
          <a:p>
            <a:r>
              <a:rPr>
                <a:latin typeface="Times New Roman"/>
              </a:rPr>
              <a:t>Law enforcement and citizens need proactive, real-time detection tools.</a:t>
            </a:r>
          </a:p>
          <a:p>
            <a:r>
              <a:rPr>
                <a:latin typeface="Times New Roman"/>
              </a:rPr>
              <a:t>RiskGuard provides a comprehensive multi-modal detection platform.</a:t>
            </a:r>
          </a:p>
          <a:p>
            <a:r>
              <a:rPr>
                <a:latin typeface="Times New Roman"/>
              </a:rPr>
              <a:t>Combines local signal processing with cloud-based AI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RiskGuard is a multi-modal AI deepfake detection system.</a:t>
            </a:r>
          </a:p>
          <a:p>
            <a:r>
              <a:rPr>
                <a:latin typeface="Times New Roman"/>
              </a:rPr>
              <a:t>Detects synthetic content across image, voice, text, and video modalities.</a:t>
            </a:r>
          </a:p>
          <a:p>
            <a:r>
              <a:rPr>
                <a:latin typeface="Times New Roman"/>
              </a:rPr>
              <a:t>Uses hybrid CPU + GPU architecture with 6-signal ensemble detection.</a:t>
            </a:r>
          </a:p>
          <a:p>
            <a:r>
              <a:rPr>
                <a:latin typeface="Times New Roman"/>
              </a:rPr>
              <a:t>Blockchain evidence preservation via SHA-256, IPFS, and Merkle trees.</a:t>
            </a:r>
          </a:p>
          <a:p>
            <a:r>
              <a:rPr>
                <a:latin typeface="Times New Roman"/>
              </a:rPr>
              <a:t>Flutter mobile app with real-time protection overlay for citizens.</a:t>
            </a:r>
          </a:p>
          <a:p>
            <a:r>
              <a:rPr>
                <a:latin typeface="Times New Roman"/>
              </a:rPr>
              <a:t>FastAPI web dashboard for law enforcement investigators.</a:t>
            </a:r>
          </a:p>
          <a:p>
            <a:r>
              <a:rPr>
                <a:latin typeface="Times New Roman"/>
              </a:rPr>
              <a:t>Achieves 70-92% image, 65-85% voice, and 70-88% text detection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Need for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Rapid proliferation of AI-generated deepfake content across all media types.</a:t>
            </a:r>
          </a:p>
          <a:p>
            <a:r>
              <a:rPr>
                <a:latin typeface="Times New Roman"/>
              </a:rPr>
              <a:t>Existing tools require manual content submission for analysis.</a:t>
            </a:r>
          </a:p>
          <a:p>
            <a:r>
              <a:rPr>
                <a:latin typeface="Times New Roman"/>
              </a:rPr>
              <a:t>Single-modality detection leaves gaps in security coverage.</a:t>
            </a:r>
          </a:p>
          <a:p>
            <a:r>
              <a:rPr>
                <a:latin typeface="Times New Roman"/>
              </a:rPr>
              <a:t>No integrated system combining detection with evidence preservation.</a:t>
            </a:r>
          </a:p>
          <a:p>
            <a:r>
              <a:rPr>
                <a:latin typeface="Times New Roman"/>
              </a:rPr>
              <a:t>Citizens lack real-time protection during everyday app usage.</a:t>
            </a:r>
          </a:p>
          <a:p>
            <a:r>
              <a:rPr>
                <a:latin typeface="Times New Roman"/>
              </a:rPr>
              <a:t>Law enforcement needs tamper-proof forensic evidence chains.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Accurately distinguishing AI-generated content across multiple modalities.</a:t>
            </a:r>
          </a:p>
          <a:p>
            <a:r>
              <a:rPr>
                <a:latin typeface="Times New Roman"/>
              </a:rPr>
              <a:t>Ensuring tamper-proof chain of custody for digital forensic evidence.</a:t>
            </a:r>
          </a:p>
          <a:p>
            <a:r>
              <a:rPr>
                <a:latin typeface="Times New Roman"/>
              </a:rPr>
              <a:t>Providing real-time detection without requiring manual content submission.</a:t>
            </a:r>
          </a:p>
          <a:p>
            <a:r>
              <a:rPr>
                <a:latin typeface="Times New Roman"/>
              </a:rPr>
              <a:t>Most existing solutions are limited to single modality (image OR video OR audio).</a:t>
            </a:r>
          </a:p>
          <a:p>
            <a:r>
              <a:rPr>
                <a:latin typeface="Times New Roman"/>
              </a:rPr>
              <a:t>Processing delays of 10-60 seconds per item in current tools.</a:t>
            </a:r>
          </a:p>
          <a:p>
            <a:r>
              <a:rPr>
                <a:latin typeface="Times New Roman"/>
              </a:rPr>
              <a:t>No proactive protection during browsing WhatsApp, Chrome, or Instagram.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Build multi-signal ensemble detection for image, voice, text, and video.</a:t>
            </a:r>
          </a:p>
          <a:p>
            <a:r>
              <a:rPr>
                <a:latin typeface="Times New Roman"/>
              </a:rPr>
              <a:t>Achieve 60-92% accuracy without requiring GPU hardware on detection path.</a:t>
            </a:r>
          </a:p>
          <a:p>
            <a:r>
              <a:rPr>
                <a:latin typeface="Times New Roman"/>
              </a:rPr>
              <a:t>Implement blockchain evidence ledger with Merkle-batch anchoring.</a:t>
            </a:r>
          </a:p>
          <a:p>
            <a:r>
              <a:rPr>
                <a:latin typeface="Times New Roman"/>
              </a:rPr>
              <a:t>Reduce per-record blockchain costs by up to 99.7% via Merkle batching.</a:t>
            </a:r>
          </a:p>
          <a:p>
            <a:r>
              <a:rPr>
                <a:latin typeface="Times New Roman"/>
              </a:rPr>
              <a:t>Develop real-time protection overlay monitoring whitelisted applications.</a:t>
            </a:r>
          </a:p>
          <a:p>
            <a:r>
              <a:rPr>
                <a:latin typeface="Times New Roman"/>
              </a:rPr>
              <a:t>Create dual-interface: Flutter mobile app + FastAPI web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Microsoft Video Authenticator, Deepware Scanner, Sensity AI — standalone tools.</a:t>
            </a:r>
          </a:p>
          <a:p>
            <a:r>
              <a:rPr>
                <a:latin typeface="Times New Roman"/>
              </a:rPr>
              <a:t>Require users to manually upload suspicious content for verification.</a:t>
            </a:r>
          </a:p>
          <a:p>
            <a:r>
              <a:rPr>
                <a:latin typeface="Times New Roman"/>
              </a:rPr>
              <a:t>Limited to single-modality analysis (image OR video OR audio).</a:t>
            </a:r>
          </a:p>
          <a:p>
            <a:r>
              <a:rPr>
                <a:latin typeface="Times New Roman"/>
              </a:rPr>
              <a:t>Blockchain systems like Chainkit operate independently of detection.</a:t>
            </a:r>
          </a:p>
          <a:p>
            <a:r>
              <a:rPr>
                <a:latin typeface="Times New Roman"/>
              </a:rPr>
              <a:t>Cloud-based GPU inference with significant processing delays.</a:t>
            </a:r>
          </a:p>
          <a:p>
            <a:r>
              <a:rPr>
                <a:latin typeface="Times New Roman"/>
              </a:rPr>
              <a:t>No real-time, proactive protection during everyday app usage.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Limitations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Manual, user-initiated analysis — threats during normal usage go undetected.</a:t>
            </a:r>
          </a:p>
          <a:p>
            <a:r>
              <a:rPr>
                <a:latin typeface="Times New Roman"/>
              </a:rPr>
              <a:t>Single-modality — cannot cross-correlate signals across media types.</a:t>
            </a:r>
          </a:p>
          <a:p>
            <a:r>
              <a:rPr>
                <a:latin typeface="Times New Roman"/>
              </a:rPr>
              <a:t>Slow processing (10-60 seconds per item) requiring cloud connectivity.</a:t>
            </a:r>
          </a:p>
          <a:p>
            <a:r>
              <a:rPr>
                <a:latin typeface="Times New Roman"/>
              </a:rPr>
              <a:t>Blockchain evidence systems fragmented from detection workflow.</a:t>
            </a:r>
          </a:p>
          <a:p>
            <a:r>
              <a:rPr>
                <a:latin typeface="Times New Roman"/>
              </a:rPr>
              <a:t>No offline detection capability available.</a:t>
            </a:r>
          </a:p>
          <a:p>
            <a:r>
              <a:rPr>
                <a:latin typeface="Times New Roman"/>
              </a:rPr>
              <a:t>No proactive monitoring of messaging and social media applications.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RiskGuard: comprehensive multi-modal AI detection platform.</a:t>
            </a:r>
          </a:p>
          <a:p>
            <a:r>
              <a:rPr>
                <a:latin typeface="Times New Roman"/>
              </a:rPr>
              <a:t>Proactive real-time overlay monitors whitelisted apps automatically.</a:t>
            </a:r>
          </a:p>
          <a:p>
            <a:r>
              <a:rPr>
                <a:latin typeface="Times New Roman"/>
              </a:rPr>
              <a:t>Hybrid CPU + GPU architecture for local + cloud detection.</a:t>
            </a:r>
          </a:p>
          <a:p>
            <a:r>
              <a:rPr>
                <a:latin typeface="Times New Roman"/>
              </a:rPr>
              <a:t>6-signal ensemble for images, 6-signal for voice, 4-signal for text.</a:t>
            </a:r>
          </a:p>
          <a:p>
            <a:r>
              <a:rPr>
                <a:latin typeface="Times New Roman"/>
              </a:rPr>
              <a:t>Integrated blockchain evidence chain with Merkle-batch anchoring.</a:t>
            </a:r>
          </a:p>
          <a:p>
            <a:r>
              <a:rPr>
                <a:latin typeface="Times New Roman"/>
              </a:rPr>
              <a:t>Operates on commodity 8 GB RAM hardware with optional cloud GPU.</a:t>
            </a:r>
          </a:p>
          <a:p>
            <a:r>
              <a:rPr>
                <a:latin typeface="Times New Roman"/>
              </a:rPr>
              <a:t>Dual interface serving citizens (Flutter) and investigators (web dashboard).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Advantages of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Multi-modal detection across image, voice, text, and video in one platform.</a:t>
            </a:r>
          </a:p>
          <a:p>
            <a:r>
              <a:rPr>
                <a:latin typeface="Times New Roman"/>
              </a:rPr>
              <a:t>Real-time proactive protection through system overlay monitoring apps.</a:t>
            </a:r>
          </a:p>
          <a:p>
            <a:r>
              <a:rPr>
                <a:latin typeface="Times New Roman"/>
              </a:rPr>
              <a:t>Hybrid local + cloud architecture enabling offline detection.</a:t>
            </a:r>
          </a:p>
          <a:p>
            <a:r>
              <a:rPr>
                <a:latin typeface="Times New Roman"/>
              </a:rPr>
              <a:t>Merkle-batch anchoring reduces blockchain gas costs by 99.7%.</a:t>
            </a:r>
          </a:p>
          <a:p>
            <a:r>
              <a:rPr>
                <a:latin typeface="Times New Roman"/>
              </a:rPr>
              <a:t>Live call monitoring with voice deepfake detection during phone calls.</a:t>
            </a:r>
          </a:p>
          <a:p>
            <a:r>
              <a:rPr>
                <a:latin typeface="Times New Roman"/>
              </a:rPr>
              <a:t>URL verification with URLhaus threat feeds and community blacklists.</a:t>
            </a:r>
          </a:p>
          <a:p>
            <a:r>
              <a:rPr>
                <a:latin typeface="Times New Roman"/>
              </a:rPr>
              <a:t>Processing under 200ms for voice chunks, under 150ms for local images.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System Architecture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Three-tier architecture: Flutter frontend, FastAPI backend, external services.</a:t>
            </a:r>
          </a:p>
          <a:p>
            <a:r>
              <a:rPr>
                <a:latin typeface="Times New Roman"/>
              </a:rPr>
              <a:t>Mobile app communicates via HTTPS REST APIs with backend.</a:t>
            </a:r>
          </a:p>
          <a:p>
            <a:r>
              <a:rPr>
                <a:latin typeface="Times New Roman"/>
              </a:rPr>
              <a:t>Backend processes AI detection across four modalities.</a:t>
            </a:r>
          </a:p>
          <a:p>
            <a:r>
              <a:rPr>
                <a:latin typeface="Times New Roman"/>
              </a:rPr>
              <a:t>External services: HuggingFace, Google Colab, Pinata IPFS, Polygon blockchain.</a:t>
            </a:r>
          </a:p>
          <a:p>
            <a:r>
              <a:rPr>
                <a:latin typeface="Times New Roman"/>
              </a:rPr>
              <a:t>System overlay runs independently via Android Accessibility Services.</a:t>
            </a:r>
          </a:p>
          <a:p>
            <a:r>
              <a:rPr>
                <a:latin typeface="Times New Roman"/>
              </a:rPr>
              <a:t>Platform channels bridge native Android services with Flutter 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>
                <a:latin typeface="Times New Roman"/>
              </a:rPr>
              <a:t>System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61" y="1295400"/>
            <a:ext cx="8577276" cy="46823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Image Analysis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6-signal type-adaptive weighted ensemble architecture.</a:t>
            </a:r>
          </a:p>
          <a:p>
            <a:r>
              <a:rPr>
                <a:latin typeface="Times New Roman"/>
              </a:rPr>
              <a:t>Classifies images into photograph, digital art, or screenshot.</a:t>
            </a:r>
          </a:p>
          <a:p>
            <a:r>
              <a:rPr>
                <a:latin typeface="Times New Roman"/>
              </a:rPr>
              <a:t>NPR (Noise Print Residual) detects camera sensor noise patterns.</a:t>
            </a:r>
          </a:p>
          <a:p>
            <a:r>
              <a:rPr>
                <a:latin typeface="Times New Roman"/>
              </a:rPr>
              <a:t>DCT spectral analysis detects GAN/diffusion frequency fingerprints.</a:t>
            </a:r>
          </a:p>
          <a:p>
            <a:r>
              <a:rPr>
                <a:latin typeface="Times New Roman"/>
              </a:rPr>
              <a:t>Haar wavelet decomposition analyzes multi-scale texture features.</a:t>
            </a:r>
          </a:p>
          <a:p>
            <a:r>
              <a:rPr>
                <a:latin typeface="Times New Roman"/>
              </a:rPr>
              <a:t>Cloud CNN + HuggingFace classifiers for deep learning signals.</a:t>
            </a:r>
          </a:p>
          <a:p>
            <a:r>
              <a:rPr>
                <a:latin typeface="Times New Roman"/>
              </a:rPr>
              <a:t>Graceful degradation: failed signals excluded, weights redistributed.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Image Detection Signal Weights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Signal weights dynamically adjusted based on image type: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400000"/>
          <a:ext cx="82296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142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/>
                        </a:rP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/>
                        </a:rPr>
                        <a:t>Photo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/>
                        </a:rPr>
                        <a:t>Art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/>
                        </a:rPr>
                        <a:t>Technique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ONNX/Colab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CNN Binary Classifier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Cloud HF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HuggingFace AI Detector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NPR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Noise Print Residual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Wavelet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Haar Wavelet Decomposition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Perceptual Hashing (DCT)</a:t>
                      </a:r>
                    </a:p>
                  </a:txBody>
                  <a:tcPr/>
                </a:tc>
              </a:tr>
              <a:tr h="457148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DCT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DCT Spectral Analysis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Voice Analysis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6-signal hybrid CPU + GPU architecture with real-time streaming.</a:t>
            </a:r>
          </a:p>
          <a:p>
            <a:r>
              <a:rPr>
                <a:latin typeface="Times New Roman"/>
              </a:rPr>
              <a:t>Processes 0.5-second chunks with analysis under 200ms per chunk.</a:t>
            </a:r>
          </a:p>
          <a:p>
            <a:r>
              <a:rPr>
                <a:latin typeface="Times New Roman"/>
              </a:rPr>
              <a:t>LFCC (30%) — Linear Frequency Cepstral Coefficients.</a:t>
            </a:r>
          </a:p>
          <a:p>
            <a:r>
              <a:rPr>
                <a:latin typeface="Times New Roman"/>
              </a:rPr>
              <a:t>CQT Phase Coherence (20%) — Constant-Q Transform analysis.</a:t>
            </a:r>
          </a:p>
          <a:p>
            <a:r>
              <a:rPr>
                <a:latin typeface="Times New Roman"/>
              </a:rPr>
              <a:t>Modulation Spectrum (20%) — Temporal envelope analysis.</a:t>
            </a:r>
          </a:p>
          <a:p>
            <a:r>
              <a:rPr>
                <a:latin typeface="Times New Roman"/>
              </a:rPr>
              <a:t>Pitch/F0 Contour (20%) — Autocorrelation-based tracking.</a:t>
            </a:r>
          </a:p>
          <a:p>
            <a:r>
              <a:rPr>
                <a:latin typeface="Times New Roman"/>
              </a:rPr>
              <a:t>Statistical Moments (10%) — Higher-order amplitude analysis.</a:t>
            </a:r>
          </a:p>
          <a:p>
            <a:r>
              <a:rPr>
                <a:latin typeface="Times New Roman"/>
              </a:rPr>
              <a:t>wav2vec2 GPU (40%) — Fine-tuned on ASVspoof2019 via ONNX.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Voice Detection Signal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Fusion: 60% local CPU + 40% Colab GPU (100% local when offline):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400000"/>
          <a:ext cx="82296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142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/>
                        </a:rP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/>
                        </a:rPr>
                        <a:t>Technique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LFCC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Linear Frequency Cepstral Coefficients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CQT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Constant-Q Transform Phase Coherence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Modulation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Temporal Envelope Modulation Spectrum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Pitch/F0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Autocorrelation-based F0 Contour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Statistical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Higher-order Amplitude Moments</a:t>
                      </a:r>
                    </a:p>
                  </a:txBody>
                  <a:tcPr/>
                </a:tc>
              </a:tr>
              <a:tr h="457148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wav2vec2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wav2vec2-base ASVspoof2019 ONNX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Text Analysis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4-signal ensemble combining cloud transformers with local methods.</a:t>
            </a:r>
          </a:p>
          <a:p>
            <a:r>
              <a:rPr>
                <a:latin typeface="Times New Roman"/>
              </a:rPr>
              <a:t>DeBERTa (45%) — Fine-tuned on ChatGPT outputs for AI text detection.</a:t>
            </a:r>
          </a:p>
          <a:p>
            <a:r>
              <a:rPr>
                <a:latin typeface="Times New Roman"/>
              </a:rPr>
              <a:t>RoBERTa (15%) — Short-text dampening fix for casual messages.</a:t>
            </a:r>
          </a:p>
          <a:p>
            <a:r>
              <a:rPr>
                <a:latin typeface="Times New Roman"/>
              </a:rPr>
              <a:t>Binoculars Perplexity Proxy (20%) — Zero-shot LLM detection.</a:t>
            </a:r>
          </a:p>
          <a:p>
            <a:r>
              <a:rPr>
                <a:latin typeface="Times New Roman"/>
              </a:rPr>
              <a:t>Local Statistical Analysis (20%) — Lexical diversity and patterns.</a:t>
            </a:r>
          </a:p>
          <a:p>
            <a:r>
              <a:rPr>
                <a:latin typeface="Times New Roman"/>
              </a:rPr>
              <a:t>Independent phishing analysis layer with URL and urgency detection.</a:t>
            </a:r>
          </a:p>
          <a:p>
            <a:r>
              <a:rPr>
                <a:latin typeface="Times New Roman"/>
              </a:rPr>
              <a:t>Risk score (0-100) with explanation for each analyzed text.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Video Analysis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2-signal temporal-aware pipeline reusing full image engine per-frame.</a:t>
            </a:r>
          </a:p>
          <a:p>
            <a:r>
              <a:rPr>
                <a:latin typeface="Times New Roman"/>
              </a:rPr>
              <a:t>Per-frame image signal (60%) — Full 6-signal pipeline on sampled frames.</a:t>
            </a:r>
          </a:p>
          <a:p>
            <a:r>
              <a:rPr>
                <a:latin typeface="Times New Roman"/>
              </a:rPr>
              <a:t>Temporal coherence signal (40%) — Farneback dense optical flow.</a:t>
            </a:r>
          </a:p>
          <a:p>
            <a:r>
              <a:rPr>
                <a:latin typeface="Times New Roman"/>
              </a:rPr>
              <a:t>Samples at 3 FPS with maximum of 30 frames per video.</a:t>
            </a:r>
          </a:p>
          <a:p>
            <a:r>
              <a:rPr>
                <a:latin typeface="Times New Roman"/>
              </a:rPr>
              <a:t>Deepfakes show abrupt flow variance due to face swap discontinuities.</a:t>
            </a:r>
          </a:p>
          <a:p>
            <a:r>
              <a:rPr>
                <a:latin typeface="Times New Roman"/>
              </a:rPr>
              <a:t>Real video shows smooth, consistent optical flow patterns.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Blockchain Evidence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Follows "Immutable Chain of Custody" principle.</a:t>
            </a:r>
          </a:p>
          <a:p>
            <a:r>
              <a:rPr>
                <a:latin typeface="Times New Roman"/>
              </a:rPr>
              <a:t>SHA-256 hash fingerprints the evidence file.</a:t>
            </a:r>
          </a:p>
          <a:p>
            <a:r>
              <a:rPr>
                <a:latin typeface="Times New Roman"/>
              </a:rPr>
              <a:t>IPFS upload via Pinata provides decentralized storage with CID.</a:t>
            </a:r>
          </a:p>
          <a:p>
            <a:r>
              <a:rPr>
                <a:latin typeface="Times New Roman"/>
              </a:rPr>
              <a:t>SQLite records off-chain metadata for efficient querying.</a:t>
            </a:r>
          </a:p>
          <a:p>
            <a:r>
              <a:rPr>
                <a:latin typeface="Times New Roman"/>
              </a:rPr>
              <a:t>Multiple hashes combined into Merkle tree — only root stored on-chain.</a:t>
            </a:r>
          </a:p>
          <a:p>
            <a:r>
              <a:rPr>
                <a:latin typeface="Times New Roman"/>
              </a:rPr>
              <a:t>Single Polygon transaction anchors entire batch via EvidenceAnchor contract.</a:t>
            </a:r>
          </a:p>
          <a:p>
            <a:r>
              <a:rPr>
                <a:latin typeface="Times New Roman"/>
              </a:rPr>
              <a:t>Cost reduction: 83% for 10 records, 99.7% for 100 records.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Real-Time Protection Overlay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2300+ line Android system overlay for continuous security monitoring.</a:t>
            </a:r>
          </a:p>
          <a:p>
            <a:r>
              <a:rPr>
                <a:latin typeface="Times New Roman"/>
              </a:rPr>
              <a:t>Leverages Accessibility Services to detect content in whitelisted apps.</a:t>
            </a:r>
          </a:p>
          <a:p>
            <a:r>
              <a:rPr>
                <a:latin typeface="Times New Roman"/>
              </a:rPr>
              <a:t>Monitors WhatsApp, Chrome, Instagram, Telegram, Facebook.</a:t>
            </a:r>
          </a:p>
          <a:p>
            <a:r>
              <a:rPr>
                <a:latin typeface="Times New Roman"/>
              </a:rPr>
              <a:t>Three surface modes: monitoring bubble, verdict card, call monitoring chip.</a:t>
            </a:r>
          </a:p>
          <a:p>
            <a:r>
              <a:rPr>
                <a:latin typeface="Times New Roman"/>
              </a:rPr>
              <a:t>URL verification against URLhaus, community blacklist, heuristic screening.</a:t>
            </a:r>
          </a:p>
          <a:p>
            <a:r>
              <a:rPr>
                <a:latin typeface="Times New Roman"/>
              </a:rPr>
              <a:t>Media detection captures dominant visible image for deepfake analysis.</a:t>
            </a:r>
          </a:p>
          <a:p>
            <a:r>
              <a:rPr>
                <a:latin typeface="Times New Roman"/>
              </a:rPr>
              <a:t>Live call monitoring with real-time voice analysis during active calls.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URL Verification &amp; Risk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Multi-layered threat intelligence for link safety assessment.</a:t>
            </a:r>
          </a:p>
          <a:p>
            <a:r>
              <a:rPr>
                <a:latin typeface="Times New Roman"/>
              </a:rPr>
              <a:t>Normalizes URLs, checks community blacklist, queries URLhaus API.</a:t>
            </a:r>
          </a:p>
          <a:p>
            <a:r>
              <a:rPr>
                <a:latin typeface="Times New Roman"/>
              </a:rPr>
              <a:t>Local heuristic screening for suspicious URL patterns.</a:t>
            </a:r>
          </a:p>
          <a:p>
            <a:r>
              <a:rPr>
                <a:latin typeface="Times New Roman"/>
              </a:rPr>
              <a:t>Results cached for 120 seconds with confidence scoring.</a:t>
            </a:r>
          </a:p>
          <a:p>
            <a:r>
              <a:rPr>
                <a:latin typeface="Times New Roman"/>
              </a:rPr>
              <a:t>Risk scoring: Call Pattern (25%), Voice (30%), Content (30%), History (15%).</a:t>
            </a:r>
          </a:p>
          <a:p>
            <a:r>
              <a:rPr>
                <a:latin typeface="Times New Roman"/>
              </a:rPr>
              <a:t>Risk levels: LOW (≤30), MEDIUM (31-70), HIGH (71-100).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Cybercrime Investigation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Web-based dashboard for law enforcement with real-time evidence management.</a:t>
            </a:r>
          </a:p>
          <a:p>
            <a:r>
              <a:rPr>
                <a:latin typeface="Times New Roman"/>
              </a:rPr>
              <a:t>Live evidence table with Server-Sent Events (SSE) real-time updates.</a:t>
            </a:r>
          </a:p>
          <a:p>
            <a:r>
              <a:rPr>
                <a:latin typeface="Times New Roman"/>
              </a:rPr>
              <a:t>Green pulsing LIVE badge showing active SSE connection status.</a:t>
            </a:r>
          </a:p>
          <a:p>
            <a:r>
              <a:rPr>
                <a:latin typeface="Times New Roman"/>
              </a:rPr>
              <a:t>Toast notifications with sound alerts for new evidence.</a:t>
            </a:r>
          </a:p>
          <a:p>
            <a:r>
              <a:rPr>
                <a:latin typeface="Times New Roman"/>
              </a:rPr>
              <a:t>Full evidence detail: SHA-256 hash, IPFS CID, Merkle proof, blockchain TX.</a:t>
            </a:r>
          </a:p>
          <a:p>
            <a:r>
              <a:rPr>
                <a:latin typeface="Times New Roman"/>
              </a:rPr>
              <a:t>One-click batch anchoring and direct PolygonScan links.</a:t>
            </a:r>
          </a:p>
          <a:p>
            <a:r>
              <a:rPr>
                <a:latin typeface="Times New Roman"/>
              </a:rPr>
              <a:t>Secure session-based authentication for investigators.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00000"/>
          <a:ext cx="8229600" cy="4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6363">
                <a:tc>
                  <a:txBody>
                    <a:bodyPr/>
                    <a:lstStyle/>
                    <a:p>
                      <a:r>
                        <a:rPr sz="1200" b="1">
                          <a:latin typeface="Times New Roman"/>
                        </a:rP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Times New Roman"/>
                        </a:rP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Times New Roman"/>
                        </a:rPr>
                        <a:t>Purpose</a:t>
                      </a:r>
                    </a:p>
                  </a:txBody>
                  <a:tcPr/>
                </a:tc>
              </a:tr>
              <a:tr h="436363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Mobile 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Flutter / Dart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Cross-platform app with overlay</a:t>
                      </a:r>
                    </a:p>
                  </a:txBody>
                  <a:tcPr/>
                </a:tc>
              </a:tr>
              <a:tr h="436363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Backend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FastAPI (Python 3.11+)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Async REST API with Swagger UI</a:t>
                      </a:r>
                    </a:p>
                  </a:txBody>
                  <a:tcPr/>
                </a:tc>
              </a:tr>
              <a:tr h="436363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AI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NumPy, SciPy, OpenCV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Zero-dependency signal processing</a:t>
                      </a:r>
                    </a:p>
                  </a:txBody>
                  <a:tcPr/>
                </a:tc>
              </a:tr>
              <a:tr h="436363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Cloud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HuggingFace Inference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Transformer classification</a:t>
                      </a:r>
                    </a:p>
                  </a:txBody>
                  <a:tcPr/>
                </a:tc>
              </a:tr>
              <a:tr h="436363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GPU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Google Colab + ONNX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wav2vec2, CNN classifier</a:t>
                      </a:r>
                    </a:p>
                  </a:txBody>
                  <a:tcPr/>
                </a:tc>
              </a:tr>
              <a:tr h="436363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web3.py, Polygon Amoy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On-chain evidence anchoring</a:t>
                      </a:r>
                    </a:p>
                  </a:txBody>
                  <a:tcPr/>
                </a:tc>
              </a:tr>
              <a:tr h="436363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Smart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Solidity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Merkle root storage</a:t>
                      </a:r>
                    </a:p>
                  </a:txBody>
                  <a:tcPr/>
                </a:tc>
              </a:tr>
              <a:tr h="436363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IPFS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Pinata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Decentralized evidence storage</a:t>
                      </a:r>
                    </a:p>
                  </a:txBody>
                  <a:tcPr/>
                </a:tc>
              </a:tr>
              <a:tr h="436363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FastAPI + Jinja2 + 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Real-time investigator interface</a:t>
                      </a:r>
                    </a:p>
                  </a:txBody>
                  <a:tcPr/>
                </a:tc>
              </a:tr>
              <a:tr h="43637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State 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Provider (Flutter)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Reactive state for protection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Working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Image: Classifies input type → assigns signal weights → runs 6 signals concurrently.</a:t>
            </a:r>
          </a:p>
          <a:p>
            <a:r>
              <a:rPr>
                <a:latin typeface="Times New Roman"/>
              </a:rPr>
              <a:t>Failed signals excluded, weights redistributed proportionally.</a:t>
            </a:r>
          </a:p>
          <a:p>
            <a:r>
              <a:rPr>
                <a:latin typeface="Times New Roman"/>
              </a:rPr>
              <a:t>Weighted ensemble produces AI-generation probability with explanation.</a:t>
            </a:r>
          </a:p>
          <a:p>
            <a:r>
              <a:rPr>
                <a:latin typeface="Times New Roman"/>
              </a:rPr>
              <a:t>Voice: Stereo-to-mono → resample 16kHz → VAD strips silence.</a:t>
            </a:r>
          </a:p>
          <a:p>
            <a:r>
              <a:rPr>
                <a:latin typeface="Times New Roman"/>
              </a:rPr>
              <a:t>Real-time: 0.5s chunks processed under 200ms each.</a:t>
            </a:r>
          </a:p>
          <a:p>
            <a:r>
              <a:rPr>
                <a:latin typeface="Times New Roman"/>
              </a:rPr>
              <a:t>Local CPU signals combined with optional cloud wav2vec2 inference.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Working of the System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Overlay: Detects whitelisted app → activates monitoring bubble.</a:t>
            </a:r>
          </a:p>
          <a:p>
            <a:r>
              <a:rPr>
                <a:latin typeface="Times New Roman"/>
              </a:rPr>
              <a:t>Captures URLs for verification, media for deepfake analysis.</a:t>
            </a:r>
          </a:p>
          <a:p>
            <a:r>
              <a:rPr>
                <a:latin typeface="Times New Roman"/>
              </a:rPr>
              <a:t>Call monitoring: transforms into voice analysis chip during calls.</a:t>
            </a:r>
          </a:p>
          <a:p>
            <a:r>
              <a:rPr>
                <a:latin typeface="Times New Roman"/>
              </a:rPr>
              <a:t>Evidence: SHA-256 hash → IPFS upload → SQLite metadata.</a:t>
            </a:r>
          </a:p>
          <a:p>
            <a:r>
              <a:rPr>
                <a:latin typeface="Times New Roman"/>
              </a:rPr>
              <a:t>Merkle tree aggregation → single Polygon transaction anchors batch.</a:t>
            </a:r>
          </a:p>
          <a:p>
            <a:r>
              <a:rPr>
                <a:latin typeface="Times New Roman"/>
              </a:rPr>
              <a:t>Verification recomputes Merkle proof and compares to on-chain root.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Testing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Unit Testing — Individual modules validated in isolation.</a:t>
            </a:r>
          </a:p>
          <a:p>
            <a:r>
              <a:rPr>
                <a:latin typeface="Times New Roman"/>
              </a:rPr>
              <a:t>Integration Testing — Frontend-backend-AI model communication verified.</a:t>
            </a:r>
          </a:p>
          <a:p>
            <a:r>
              <a:rPr>
                <a:latin typeface="Times New Roman"/>
              </a:rPr>
              <a:t>System Testing — Full application tested with real-world inputs.</a:t>
            </a:r>
          </a:p>
          <a:p>
            <a:r>
              <a:rPr>
                <a:latin typeface="Times New Roman"/>
              </a:rPr>
              <a:t>User Acceptance Testing — End-user evaluation of usability and UX.</a:t>
            </a:r>
          </a:p>
          <a:p>
            <a:r>
              <a:rPr>
                <a:latin typeface="Times New Roman"/>
              </a:rPr>
              <a:t>Performance factors: response time, processing speed, reliability assessed.</a:t>
            </a:r>
          </a:p>
          <a:p>
            <a:r>
              <a:rPr>
                <a:latin typeface="Times New Roman"/>
              </a:rPr>
              <a:t>Feedback-driven enhancements to UI and interaction design.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Test Case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00000"/>
          <a:ext cx="82296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66666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/>
                        </a:rPr>
                        <a:t>Test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/>
                        </a:rPr>
                        <a:t>Input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/>
                        </a:rPr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/>
                        </a:rPr>
                        <a:t>Result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TC01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Real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Classified as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Passed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TC02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Deepfake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Classified as Fake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Passed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TC03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Real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Real with Confidence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Passed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TC04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Deepfake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Fake with Confidence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Passed</a:t>
                      </a:r>
                    </a:p>
                  </a:txBody>
                  <a:tcPr/>
                </a:tc>
              </a:tr>
              <a:tr h="46667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TC05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Invalid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Error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Passed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Results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Image detection: 70-92% accuracy on photographs.</a:t>
            </a:r>
          </a:p>
          <a:p>
            <a:r>
              <a:rPr>
                <a:latin typeface="Times New Roman"/>
              </a:rPr>
              <a:t>Type-adaptive weighting prevents false positives on digital art.</a:t>
            </a:r>
          </a:p>
          <a:p>
            <a:r>
              <a:rPr>
                <a:latin typeface="Times New Roman"/>
              </a:rPr>
              <a:t>Voice detection: 65-85% accuracy on full audio clips.</a:t>
            </a:r>
          </a:p>
          <a:p>
            <a:r>
              <a:rPr>
                <a:latin typeface="Times New Roman"/>
              </a:rPr>
              <a:t>Real-time streaming support under 200ms per 0.5s chunk.</a:t>
            </a:r>
          </a:p>
          <a:p>
            <a:r>
              <a:rPr>
                <a:latin typeface="Times New Roman"/>
              </a:rPr>
              <a:t>Text detection: 70-88% accuracy on long-form content.</a:t>
            </a:r>
          </a:p>
          <a:p>
            <a:r>
              <a:rPr>
                <a:latin typeface="Times New Roman"/>
              </a:rPr>
              <a:t>Merkle batching reduces per-record costs by up to 99.7%.</a:t>
            </a:r>
          </a:p>
          <a:p>
            <a:r>
              <a:rPr>
                <a:latin typeface="Times New Roman"/>
              </a:rPr>
              <a:t>Local image analysis completes under 150ms.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RiskGuard integrates multi-modal detection, blockchain evidence, and real-time protection.</a:t>
            </a:r>
          </a:p>
          <a:p>
            <a:r>
              <a:rPr>
                <a:latin typeface="Times New Roman"/>
              </a:rPr>
              <a:t>Production-grade deepfake detection achievable on commodity hardware.</a:t>
            </a:r>
          </a:p>
          <a:p>
            <a:r>
              <a:rPr>
                <a:latin typeface="Times New Roman"/>
              </a:rPr>
              <a:t>6-signal image ensemble with type-adaptive weighting prevents false positives.</a:t>
            </a:r>
          </a:p>
          <a:p>
            <a:r>
              <a:rPr>
                <a:latin typeface="Times New Roman"/>
              </a:rPr>
              <a:t>Voice pipeline achieves real-time streaming under 200ms per chunk.</a:t>
            </a:r>
          </a:p>
          <a:p>
            <a:r>
              <a:rPr>
                <a:latin typeface="Times New Roman"/>
              </a:rPr>
              <a:t>Blockchain evidence system reduces costs by 99.7% through Merkle batching.</a:t>
            </a:r>
          </a:p>
          <a:p>
            <a:r>
              <a:rPr>
                <a:latin typeface="Times New Roman"/>
              </a:rPr>
              <a:t>Real-time overlay provides continuous background monitoring without user intervention.</a:t>
            </a:r>
          </a:p>
          <a:p>
            <a:r>
              <a:rPr>
                <a:latin typeface="Times New Roman"/>
              </a:rPr>
              <a:t>Dual-interface successfully serves both citizens and law enforcement.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Deploy fine-tuned quantized models (wav2vec2 + ViT) locally via ONNX Runtime.</a:t>
            </a:r>
          </a:p>
          <a:p>
            <a:r>
              <a:rPr>
                <a:latin typeface="Times New Roman"/>
              </a:rPr>
              <a:t>Adversarial robustness testing against perturbation-based evasion attacks.</a:t>
            </a:r>
          </a:p>
          <a:p>
            <a:r>
              <a:rPr>
                <a:latin typeface="Times New Roman"/>
              </a:rPr>
              <a:t>Cross-modal fusion combining image, text, and voice for multi-modal documents.</a:t>
            </a:r>
          </a:p>
          <a:p>
            <a:r>
              <a:rPr>
                <a:latin typeface="Times New Roman"/>
              </a:rPr>
              <a:t>Migration from Polygon Amoy testnet to Polygon mainnet or zkEVM.</a:t>
            </a:r>
          </a:p>
          <a:p>
            <a:r>
              <a:rPr>
                <a:latin typeface="Times New Roman"/>
              </a:rPr>
              <a:t>Extend overlay system to support iOS platform.</a:t>
            </a:r>
          </a:p>
          <a:p>
            <a:r>
              <a:rPr>
                <a:latin typeface="Times New Roman"/>
              </a:rPr>
              <a:t>Enhance SMS phishing detection with on-device NLP models.</a:t>
            </a:r>
          </a:p>
          <a:p>
            <a:r>
              <a:rPr>
                <a:latin typeface="Times New Roman"/>
              </a:rPr>
              <a:t>Continuous model retraining as new generative AI techniques emerge.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1. Cozzolino &amp; Verdoliva (2020) — Noiseprint: CNN-Based Camera Model Fingerprint.</a:t>
            </a:r>
          </a:p>
          <a:p>
            <a:r>
              <a:rPr>
                <a:latin typeface="Times New Roman"/>
              </a:rPr>
              <a:t>2. Tak et al. (2021) — End-to-End Anti-Spoofing with RawNet2. ICASSP.</a:t>
            </a:r>
          </a:p>
          <a:p>
            <a:r>
              <a:rPr>
                <a:latin typeface="Times New Roman"/>
              </a:rPr>
              <a:t>3. Baevski et al. (2020) — wav2vec 2.0: Self-Supervised Learning. NeurIPS.</a:t>
            </a:r>
          </a:p>
          <a:p>
            <a:r>
              <a:rPr>
                <a:latin typeface="Times New Roman"/>
              </a:rPr>
              <a:t>4. Hans et al. (2024) — Spotting LLMs with Binoculars. ICML.</a:t>
            </a:r>
          </a:p>
          <a:p>
            <a:r>
              <a:rPr>
                <a:latin typeface="Times New Roman"/>
              </a:rPr>
              <a:t>5. Sahidullah et al. (2015) — Block Level Features for Anti-Spoofing.</a:t>
            </a:r>
          </a:p>
          <a:p>
            <a:r>
              <a:rPr>
                <a:latin typeface="Times New Roman"/>
              </a:rPr>
              <a:t>6. ASVspoof Consortium (2024) — ASVspoof 5. ISCA Interspeech.</a:t>
            </a:r>
          </a:p>
          <a:p>
            <a:r>
              <a:rPr>
                <a:latin typeface="Times New Roman"/>
              </a:rPr>
              <a:t>7. Benet, J. (2014) — IPFS: Content Addressed P2P File System.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6000">
                <a:latin typeface="Times New Roman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1024</Words>
  <Application>Microsoft Office PowerPoint</Application>
  <PresentationFormat>On-screen Show (4:3)</PresentationFormat>
  <Paragraphs>248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Times New Roman</vt:lpstr>
      <vt:lpstr>Office Theme</vt:lpstr>
      <vt:lpstr>ZENTHOR</vt:lpstr>
      <vt:lpstr>Introduction</vt:lpstr>
      <vt:lpstr>About Zenthor</vt:lpstr>
      <vt:lpstr>Need for the System</vt:lpstr>
      <vt:lpstr>Problem Statement</vt:lpstr>
      <vt:lpstr>Objectives</vt:lpstr>
      <vt:lpstr>Limitations of Existing System</vt:lpstr>
      <vt:lpstr>Proposed System</vt:lpstr>
      <vt:lpstr>Advantages of Proposed System</vt:lpstr>
      <vt:lpstr>System Architecture - Overview</vt:lpstr>
      <vt:lpstr>System Architecture - Backend &amp; DB</vt:lpstr>
      <vt:lpstr>System Architecture - AI Engine</vt:lpstr>
      <vt:lpstr>Data Collection</vt:lpstr>
      <vt:lpstr>Data Processing</vt:lpstr>
      <vt:lpstr>Machine Learning Model</vt:lpstr>
      <vt:lpstr>Recommendation Engine</vt:lpstr>
      <vt:lpstr>Skill Gap Analysis</vt:lpstr>
      <vt:lpstr>Career Prediction</vt:lpstr>
      <vt:lpstr>Technologies Used</vt:lpstr>
      <vt:lpstr>User Interface</vt:lpstr>
      <vt:lpstr>Key Features</vt:lpstr>
      <vt:lpstr>Additional Features</vt:lpstr>
      <vt:lpstr>Security Features</vt:lpstr>
      <vt:lpstr>Performance Analysis</vt:lpstr>
      <vt:lpstr>Applications</vt:lpstr>
      <vt:lpstr>Hero Page</vt:lpstr>
      <vt:lpstr>Industry Insights</vt:lpstr>
      <vt:lpstr>Resume Builder</vt:lpstr>
      <vt:lpstr>Create Cover Letter</vt:lpstr>
      <vt:lpstr>Interview Preparation</vt:lpstr>
      <vt:lpstr>Future Enhancements</vt:lpstr>
      <vt:lpstr>Conclusion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Abhimanyu C</cp:lastModifiedBy>
  <cp:revision>10</cp:revision>
  <dcterms:created xsi:type="dcterms:W3CDTF">2013-01-27T09:14:16Z</dcterms:created>
  <dcterms:modified xsi:type="dcterms:W3CDTF">2026-04-24T06:17:01Z</dcterms:modified>
  <cp:category/>
</cp:coreProperties>
</file>