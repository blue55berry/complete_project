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8" r:id="rId21"/>
    <p:sldId id="275" r:id="rId22"/>
    <p:sldId id="276" r:id="rId23"/>
    <p:sldId id="277" r:id="rId24"/>
    <p:sldId id="289" r:id="rId25"/>
    <p:sldId id="278" r:id="rId26"/>
    <p:sldId id="279" r:id="rId27"/>
    <p:sldId id="290" r:id="rId28"/>
    <p:sldId id="280" r:id="rId29"/>
    <p:sldId id="281" r:id="rId30"/>
    <p:sldId id="282" r:id="rId31"/>
    <p:sldId id="284" r:id="rId32"/>
    <p:sldId id="285" r:id="rId33"/>
    <p:sldId id="286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7317" y="2600401"/>
            <a:ext cx="3427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spc="-30" dirty="0"/>
              <a:t> </a:t>
            </a:r>
            <a:r>
              <a:rPr spc="-10" dirty="0"/>
              <a:t>GUARD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1885" y="3456508"/>
            <a:ext cx="679409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MULTI-MODAL AI DEEPFAKE DETECTION SYSTEM</a:t>
            </a:r>
            <a:endParaRPr lang="en-GB" sz="3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2487" y="226062"/>
            <a:ext cx="5586730" cy="1431290"/>
            <a:chOff x="1842487" y="226062"/>
            <a:chExt cx="5586730" cy="1431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2487" y="226062"/>
              <a:ext cx="5586279" cy="354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6291" y="443484"/>
              <a:ext cx="4600194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4683" y="870204"/>
              <a:ext cx="3143249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827" y="870204"/>
              <a:ext cx="585977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9615" y="870204"/>
              <a:ext cx="1536954" cy="7871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29816" y="114427"/>
            <a:ext cx="55994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Erode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Sengunthar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Engineering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College (An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Autonomous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Institution) </a:t>
            </a:r>
            <a:r>
              <a:rPr sz="2800" dirty="0">
                <a:latin typeface="Times New Roman"/>
                <a:cs typeface="Times New Roman"/>
              </a:rPr>
              <a:t>Perundurai,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Erode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638057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1668" y="93522"/>
            <a:ext cx="1253363" cy="10991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96936" y="253590"/>
            <a:ext cx="1512951" cy="105841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00853" y="5027752"/>
            <a:ext cx="1896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50366" y="5340349"/>
          <a:ext cx="7689850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Mr.Narendran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R,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Abi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Prasath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ts val="1964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(730422205002)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Professor,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203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Harija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ts val="203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(730422205023)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198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Hemabala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 algn="ctr">
                        <a:lnSpc>
                          <a:spcPts val="198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(730422205030)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69416" y="5031740"/>
            <a:ext cx="304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GUIDANCE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>
                <a:latin typeface="Times New Roman"/>
              </a:rPr>
              <a:t>AI-generated media poses escalating threats to digital trust.</a:t>
            </a:r>
          </a:p>
          <a:p>
            <a:r>
              <a:rPr dirty="0">
                <a:latin typeface="Times New Roman"/>
              </a:rPr>
              <a:t>Deepfake images, cloned voices, and AI text are increasingly realistic.</a:t>
            </a:r>
          </a:p>
          <a:p>
            <a:r>
              <a:rPr dirty="0">
                <a:latin typeface="Times New Roman"/>
              </a:rPr>
              <a:t>Existing tools require manual upload and support only single modality.</a:t>
            </a:r>
          </a:p>
          <a:p>
            <a:r>
              <a:rPr dirty="0">
                <a:latin typeface="Times New Roman"/>
              </a:rPr>
              <a:t>Citizens lack real-time protection during everyday app usage.</a:t>
            </a:r>
          </a:p>
          <a:p>
            <a:r>
              <a:rPr dirty="0" err="1">
                <a:latin typeface="Times New Roman"/>
              </a:rPr>
              <a:t>RiskGuard</a:t>
            </a:r>
            <a:r>
              <a:rPr dirty="0">
                <a:latin typeface="Times New Roman"/>
              </a:rPr>
              <a:t> addresses this with a multi-modal detection platform.</a:t>
            </a:r>
          </a:p>
          <a:p>
            <a:r>
              <a:rPr dirty="0">
                <a:latin typeface="Times New Roman"/>
              </a:rPr>
              <a:t>Combines local signal processing with cloud-based AI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>
                <a:latin typeface="Times New Roman"/>
              </a:rPr>
              <a:t>Multi-modal AI deepfake detection across image, voice, text, and video.</a:t>
            </a:r>
          </a:p>
          <a:p>
            <a:r>
              <a:rPr>
                <a:latin typeface="Times New Roman"/>
              </a:rPr>
              <a:t>Hybrid CPU + GPU architecture with 6-signal ensemble detection.</a:t>
            </a:r>
          </a:p>
          <a:p>
            <a:r>
              <a:rPr>
                <a:latin typeface="Times New Roman"/>
              </a:rPr>
              <a:t>Blockchain evidence preservation using SHA-256, IPFS, and Merkle trees.</a:t>
            </a:r>
          </a:p>
          <a:p>
            <a:r>
              <a:rPr>
                <a:latin typeface="Times New Roman"/>
              </a:rPr>
              <a:t>Flutter mobile app with real-time protection overlay.</a:t>
            </a:r>
          </a:p>
          <a:p>
            <a:r>
              <a:rPr>
                <a:latin typeface="Times New Roman"/>
              </a:rPr>
              <a:t>FastAPI web dashboard for law enforcement investigators.</a:t>
            </a:r>
          </a:p>
          <a:p>
            <a:r>
              <a:rPr>
                <a:latin typeface="Times New Roman"/>
              </a:rPr>
              <a:t>Achieves 70-92% image, 65-85% voice, 70-88% text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EECB-E707-4309-CE9D-0FBF6F8D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System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3DFA3FE-6FB5-47BE-A6A5-E4C3EFD31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37825"/>
            <a:ext cx="7839843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Rapid increase in cyber fraud using AI-generated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Fake voice scam attacks causing financial losses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Deepfake videos spreading misinformation 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AI-generated phishing texts targeting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Existing tools lack real-time detection capability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 unified platform for multi-modal fraud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Need for secure legal evidence preservation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Protect citizens from digital impersonation threats </a:t>
            </a:r>
          </a:p>
        </p:txBody>
      </p:sp>
    </p:spTree>
    <p:extLst>
      <p:ext uri="{BB962C8B-B14F-4D97-AF65-F5344CB8AC3E}">
        <p14:creationId xmlns:p14="http://schemas.microsoft.com/office/powerpoint/2010/main" val="374537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latin typeface="Times New Roman"/>
              </a:rPr>
              <a:t>AI voice cloning scams and impersonation attacks.</a:t>
            </a:r>
          </a:p>
          <a:p>
            <a:r>
              <a:rPr dirty="0">
                <a:latin typeface="Times New Roman"/>
              </a:rPr>
              <a:t>Deepfake videos spreading misinformation.</a:t>
            </a:r>
          </a:p>
          <a:p>
            <a:r>
              <a:rPr dirty="0">
                <a:latin typeface="Times New Roman"/>
              </a:rPr>
              <a:t>AI-generated phishing messages and social engineering.</a:t>
            </a:r>
          </a:p>
          <a:p>
            <a:r>
              <a:rPr dirty="0">
                <a:latin typeface="Times New Roman"/>
              </a:rPr>
              <a:t>Lack of unified tools for detecting multiple media types.</a:t>
            </a:r>
          </a:p>
          <a:p>
            <a:r>
              <a:rPr dirty="0">
                <a:latin typeface="Times New Roman"/>
              </a:rPr>
              <a:t>Privacy risks due to cloud-only detection systems.</a:t>
            </a:r>
          </a:p>
          <a:p>
            <a:r>
              <a:rPr dirty="0">
                <a:latin typeface="Times New Roman"/>
              </a:rPr>
              <a:t>No proactive protection during browsing social media apps.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latin typeface="Times New Roman"/>
              </a:rPr>
              <a:t>Build multi-signal ensemble detection for four modalities.</a:t>
            </a:r>
          </a:p>
          <a:p>
            <a:r>
              <a:rPr dirty="0">
                <a:latin typeface="Times New Roman"/>
              </a:rPr>
              <a:t>Achieve 60-92% accuracy on commodity hardware.</a:t>
            </a:r>
          </a:p>
          <a:p>
            <a:r>
              <a:rPr dirty="0">
                <a:latin typeface="Times New Roman"/>
              </a:rPr>
              <a:t>Implement blockchain evidence ledger with Merkle batching.</a:t>
            </a:r>
          </a:p>
          <a:p>
            <a:r>
              <a:rPr dirty="0">
                <a:latin typeface="Times New Roman"/>
              </a:rPr>
              <a:t>Reduce blockchain costs by up to 99.7%.</a:t>
            </a:r>
          </a:p>
          <a:p>
            <a:r>
              <a:rPr dirty="0">
                <a:latin typeface="Times New Roman"/>
              </a:rPr>
              <a:t>Develop real-time overlay monitoring whitelisted apps.</a:t>
            </a:r>
          </a:p>
          <a:p>
            <a:r>
              <a:rPr dirty="0">
                <a:latin typeface="Times New Roman"/>
              </a:rPr>
              <a:t>Create dual interface for citizens and investigators.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>
                <a:latin typeface="Times New Roman"/>
              </a:rPr>
              <a:t>Tools like Microsoft Video Authenticator, Deepware Scanner.</a:t>
            </a:r>
          </a:p>
          <a:p>
            <a:r>
              <a:rPr>
                <a:latin typeface="Times New Roman"/>
              </a:rPr>
              <a:t>Require manual upload of suspicious content.</a:t>
            </a:r>
          </a:p>
          <a:p>
            <a:r>
              <a:rPr>
                <a:latin typeface="Times New Roman"/>
              </a:rPr>
              <a:t>Limited to single-modality analysis.</a:t>
            </a:r>
          </a:p>
          <a:p>
            <a:r>
              <a:rPr>
                <a:latin typeface="Times New Roman"/>
              </a:rPr>
              <a:t>Cloud-based GPU inference with processing delays.</a:t>
            </a:r>
          </a:p>
          <a:p>
            <a:r>
              <a:rPr>
                <a:latin typeface="Times New Roman"/>
              </a:rPr>
              <a:t>Blockchain systems operate independently of detection.</a:t>
            </a:r>
          </a:p>
          <a:p>
            <a:r>
              <a:rPr>
                <a:latin typeface="Times New Roman"/>
              </a:rPr>
              <a:t>No real-time automated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>
                <a:latin typeface="Times New Roman"/>
              </a:rPr>
              <a:t>Manual user-initiated analysis only.</a:t>
            </a:r>
          </a:p>
          <a:p>
            <a:r>
              <a:rPr>
                <a:latin typeface="Times New Roman"/>
              </a:rPr>
              <a:t>Cannot cross-correlate signals across media types.</a:t>
            </a:r>
          </a:p>
          <a:p>
            <a:r>
              <a:rPr>
                <a:latin typeface="Times New Roman"/>
              </a:rPr>
              <a:t>Slow processing: 10-60 seconds per item.</a:t>
            </a:r>
          </a:p>
          <a:p>
            <a:r>
              <a:rPr>
                <a:latin typeface="Times New Roman"/>
              </a:rPr>
              <a:t>Requires constant cloud connectivity.</a:t>
            </a:r>
          </a:p>
          <a:p>
            <a:r>
              <a:rPr>
                <a:latin typeface="Times New Roman"/>
              </a:rPr>
              <a:t>Detection and evidence preservation are fragmented.</a:t>
            </a:r>
          </a:p>
          <a:p>
            <a:r>
              <a:rPr>
                <a:latin typeface="Times New Roman"/>
              </a:rPr>
              <a:t>No offline detection capability.</a:t>
            </a:r>
          </a:p>
          <a:p>
            <a:r>
              <a:rPr>
                <a:latin typeface="Times New Roman"/>
              </a:rPr>
              <a:t>No proactive monitoring of messaging apps.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>
                <a:latin typeface="Times New Roman"/>
              </a:rPr>
              <a:t>Comprehensive multi-modal AI detection platform.</a:t>
            </a:r>
          </a:p>
          <a:p>
            <a:r>
              <a:rPr>
                <a:latin typeface="Times New Roman"/>
              </a:rPr>
              <a:t>Proactive real-time overlay monitors apps automatically.</a:t>
            </a:r>
          </a:p>
          <a:p>
            <a:r>
              <a:rPr>
                <a:latin typeface="Times New Roman"/>
              </a:rPr>
              <a:t>Hybrid CPU + GPU local and cloud detection.</a:t>
            </a:r>
          </a:p>
          <a:p>
            <a:r>
              <a:rPr>
                <a:latin typeface="Times New Roman"/>
              </a:rPr>
              <a:t>6-signal image, 6-signal voice, 4-signal text ensemble.</a:t>
            </a:r>
          </a:p>
          <a:p>
            <a:r>
              <a:rPr>
                <a:latin typeface="Times New Roman"/>
              </a:rPr>
              <a:t>Integrated blockchain evidence with Merkle batching.</a:t>
            </a:r>
          </a:p>
          <a:p>
            <a:r>
              <a:rPr>
                <a:latin typeface="Times New Roman"/>
              </a:rPr>
              <a:t>Operates on commodity 8 GB RAM hardware.</a:t>
            </a:r>
          </a:p>
          <a:p>
            <a:r>
              <a:rPr>
                <a:latin typeface="Times New Roman"/>
              </a:rPr>
              <a:t>Dual interface: Flutter app + web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Advantages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>
                <a:latin typeface="Times New Roman"/>
              </a:rPr>
              <a:t>Multi-modal detection in a single unified platform.</a:t>
            </a:r>
          </a:p>
          <a:p>
            <a:r>
              <a:rPr>
                <a:latin typeface="Times New Roman"/>
              </a:rPr>
              <a:t>Real-time proactive protection through system overlay.</a:t>
            </a:r>
          </a:p>
          <a:p>
            <a:r>
              <a:rPr>
                <a:latin typeface="Times New Roman"/>
              </a:rPr>
              <a:t>Hybrid architecture enables offline detection.</a:t>
            </a:r>
          </a:p>
          <a:p>
            <a:r>
              <a:rPr>
                <a:latin typeface="Times New Roman"/>
              </a:rPr>
              <a:t>Merkle batching reduces gas costs by 99.7%.</a:t>
            </a:r>
          </a:p>
          <a:p>
            <a:r>
              <a:rPr>
                <a:latin typeface="Times New Roman"/>
              </a:rPr>
              <a:t>Live call monitoring with voice deepfake detection.</a:t>
            </a:r>
          </a:p>
          <a:p>
            <a:r>
              <a:rPr>
                <a:latin typeface="Times New Roman"/>
              </a:rPr>
              <a:t>URL verification with threat intelligence feeds.</a:t>
            </a:r>
          </a:p>
          <a:p>
            <a:r>
              <a:rPr>
                <a:latin typeface="Times New Roman"/>
              </a:rPr>
              <a:t>Processing under 200ms for voice, under 150ms for images.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System Architecture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>
                <a:latin typeface="Times New Roman"/>
              </a:rPr>
              <a:t>Three-tier: Flutter frontend, FastAPI backend, external services.</a:t>
            </a:r>
          </a:p>
          <a:p>
            <a:r>
              <a:rPr>
                <a:latin typeface="Times New Roman"/>
              </a:rPr>
              <a:t>Mobile app communicates via HTTPS REST APIs.</a:t>
            </a:r>
          </a:p>
          <a:p>
            <a:r>
              <a:rPr>
                <a:latin typeface="Times New Roman"/>
              </a:rPr>
              <a:t>Backend processes AI detection across four modalities.</a:t>
            </a:r>
          </a:p>
          <a:p>
            <a:r>
              <a:rPr>
                <a:latin typeface="Times New Roman"/>
              </a:rPr>
              <a:t>External: HuggingFace, Colab, Pinata IPFS, Polygon blockchain.</a:t>
            </a:r>
          </a:p>
          <a:p>
            <a:r>
              <a:rPr>
                <a:latin typeface="Times New Roman"/>
              </a:rPr>
              <a:t>Overlay runs independently via Android Accessibility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Image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>
                <a:latin typeface="Times New Roman"/>
              </a:rPr>
              <a:t>6-signal type-adaptive weighted ensemble.</a:t>
            </a:r>
          </a:p>
          <a:p>
            <a:r>
              <a:rPr>
                <a:latin typeface="Times New Roman"/>
              </a:rPr>
              <a:t>Classifies images into photograph, digital art, or screenshot.</a:t>
            </a:r>
          </a:p>
          <a:p>
            <a:r>
              <a:rPr>
                <a:latin typeface="Times New Roman"/>
              </a:rPr>
              <a:t>NPR extracts camera sensor noise patterns.</a:t>
            </a:r>
          </a:p>
          <a:p>
            <a:r>
              <a:rPr>
                <a:latin typeface="Times New Roman"/>
              </a:rPr>
              <a:t>DCT spectral analysis detects GAN/diffusion fingerprints.</a:t>
            </a:r>
          </a:p>
          <a:p>
            <a:r>
              <a:rPr>
                <a:latin typeface="Times New Roman"/>
              </a:rPr>
              <a:t>Haar wavelet decomposition for texture features.</a:t>
            </a:r>
          </a:p>
          <a:p>
            <a:r>
              <a:rPr>
                <a:latin typeface="Times New Roman"/>
              </a:rPr>
              <a:t>Cloud CNN + HuggingFace classifiers.</a:t>
            </a:r>
          </a:p>
          <a:p>
            <a:r>
              <a:rPr>
                <a:latin typeface="Times New Roman"/>
              </a:rPr>
              <a:t>Failed signals excluded, weights redistributed.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Voice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700" dirty="0">
                <a:latin typeface="Times New Roman"/>
              </a:rPr>
              <a:t>6-signal hybrid CPU + GPU architecture.</a:t>
            </a:r>
          </a:p>
          <a:p>
            <a:r>
              <a:rPr sz="2700" dirty="0">
                <a:latin typeface="Times New Roman"/>
              </a:rPr>
              <a:t>Real-time streaming: 0.5s chunks under 200ms.</a:t>
            </a:r>
          </a:p>
          <a:p>
            <a:r>
              <a:rPr sz="2700" dirty="0">
                <a:latin typeface="Times New Roman"/>
              </a:rPr>
              <a:t>LFCC (30%) - Cepstral coefficient analysis.</a:t>
            </a:r>
          </a:p>
          <a:p>
            <a:r>
              <a:rPr sz="2700" dirty="0">
                <a:latin typeface="Times New Roman"/>
              </a:rPr>
              <a:t>CQT Phase (20%) - Phase coherence detection.</a:t>
            </a:r>
          </a:p>
          <a:p>
            <a:r>
              <a:rPr sz="2700" dirty="0">
                <a:latin typeface="Times New Roman"/>
              </a:rPr>
              <a:t>Modulation (20%) - Temporal envelope analysis.</a:t>
            </a:r>
          </a:p>
          <a:p>
            <a:r>
              <a:rPr sz="2700" dirty="0">
                <a:latin typeface="Times New Roman"/>
              </a:rPr>
              <a:t>Pitch/F0 (20%) - Autocorrelation contour tracking.</a:t>
            </a:r>
          </a:p>
          <a:p>
            <a:r>
              <a:rPr sz="2700" dirty="0">
                <a:latin typeface="Times New Roman"/>
              </a:rPr>
              <a:t>wav2vec2 (40%) - Fine-tuned on ASVspoof2019.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Text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latin typeface="Times New Roman"/>
              </a:rPr>
              <a:t>4-signal ensemble with cloud and local methods.</a:t>
            </a:r>
          </a:p>
          <a:p>
            <a:r>
              <a:rPr dirty="0" err="1">
                <a:latin typeface="Times New Roman"/>
              </a:rPr>
              <a:t>DeBERTa</a:t>
            </a:r>
            <a:r>
              <a:rPr dirty="0">
                <a:latin typeface="Times New Roman"/>
              </a:rPr>
              <a:t> (45%) - Fine-tuned on ChatGPT outputs.</a:t>
            </a:r>
          </a:p>
          <a:p>
            <a:r>
              <a:rPr dirty="0" err="1">
                <a:latin typeface="Times New Roman"/>
              </a:rPr>
              <a:t>RoBERTa</a:t>
            </a:r>
            <a:r>
              <a:rPr dirty="0">
                <a:latin typeface="Times New Roman"/>
              </a:rPr>
              <a:t> (15%) - Short-text dampening fix.</a:t>
            </a:r>
          </a:p>
          <a:p>
            <a:r>
              <a:rPr dirty="0">
                <a:latin typeface="Times New Roman"/>
              </a:rPr>
              <a:t>Binoculars (20%) - Zero-shot LLM perplexity proxy.</a:t>
            </a:r>
          </a:p>
          <a:p>
            <a:r>
              <a:rPr dirty="0">
                <a:latin typeface="Times New Roman"/>
              </a:rPr>
              <a:t>Local Statistics (20%) - Lexical diversity analysis.</a:t>
            </a:r>
          </a:p>
          <a:p>
            <a:r>
              <a:rPr dirty="0">
                <a:latin typeface="Times New Roman"/>
              </a:rPr>
              <a:t>Independent phishing analysis with URL detection.</a:t>
            </a:r>
          </a:p>
          <a:p>
            <a:r>
              <a:rPr dirty="0">
                <a:latin typeface="Times New Roman"/>
              </a:rPr>
              <a:t>Risk score 0-100 with explanation.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Video Analysis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2-signal temporal-aware pipeline.</a:t>
            </a:r>
          </a:p>
          <a:p>
            <a:r>
              <a:rPr>
                <a:latin typeface="Times New Roman"/>
              </a:rPr>
              <a:t>Per-frame image signal (60%) - Full 6-signal pipeline.</a:t>
            </a:r>
          </a:p>
          <a:p>
            <a:r>
              <a:rPr>
                <a:latin typeface="Times New Roman"/>
              </a:rPr>
              <a:t>Temporal coherence (40%) - Farneback optical flow.</a:t>
            </a:r>
          </a:p>
          <a:p>
            <a:r>
              <a:rPr>
                <a:latin typeface="Times New Roman"/>
              </a:rPr>
              <a:t>Samples at 3 FPS, maximum 30 frames.</a:t>
            </a:r>
          </a:p>
          <a:p>
            <a:r>
              <a:rPr>
                <a:latin typeface="Times New Roman"/>
              </a:rPr>
              <a:t>Deepfakes show abrupt flow variance.</a:t>
            </a:r>
          </a:p>
          <a:p>
            <a:r>
              <a:rPr>
                <a:latin typeface="Times New Roman"/>
              </a:rPr>
              <a:t>Real video shows smooth optical 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Blockchain Evidence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>
                <a:latin typeface="Times New Roman"/>
              </a:rPr>
              <a:t>Follows Immutable Chain of Custody principle.</a:t>
            </a:r>
          </a:p>
          <a:p>
            <a:r>
              <a:rPr>
                <a:latin typeface="Times New Roman"/>
              </a:rPr>
              <a:t>SHA-256 hash fingerprints the evidence file.</a:t>
            </a:r>
          </a:p>
          <a:p>
            <a:r>
              <a:rPr>
                <a:latin typeface="Times New Roman"/>
              </a:rPr>
              <a:t>IPFS upload via Pinata for decentralized storage.</a:t>
            </a:r>
          </a:p>
          <a:p>
            <a:r>
              <a:rPr>
                <a:latin typeface="Times New Roman"/>
              </a:rPr>
              <a:t>SQLite records off-chain metadata.</a:t>
            </a:r>
          </a:p>
          <a:p>
            <a:r>
              <a:rPr>
                <a:latin typeface="Times New Roman"/>
              </a:rPr>
              <a:t>Merkle tree groups hashes, only root stored on-chain.</a:t>
            </a:r>
          </a:p>
          <a:p>
            <a:r>
              <a:rPr>
                <a:latin typeface="Times New Roman"/>
              </a:rPr>
              <a:t>Single Polygon transaction anchors entire batch.</a:t>
            </a:r>
          </a:p>
          <a:p>
            <a:r>
              <a:rPr>
                <a:latin typeface="Times New Roman"/>
              </a:rPr>
              <a:t>Cost reduction: 99.7% for 100 records.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Real-Time Protection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>
                <a:latin typeface="Times New Roman"/>
              </a:rPr>
              <a:t>2300+ line Android system overlay.</a:t>
            </a:r>
          </a:p>
          <a:p>
            <a:r>
              <a:rPr>
                <a:latin typeface="Times New Roman"/>
              </a:rPr>
              <a:t>Accessibility Services monitors whitelisted apps.</a:t>
            </a:r>
          </a:p>
          <a:p>
            <a:r>
              <a:rPr>
                <a:latin typeface="Times New Roman"/>
              </a:rPr>
              <a:t>Supports WhatsApp, Chrome, Instagram, Telegram, Facebook.</a:t>
            </a:r>
          </a:p>
          <a:p>
            <a:r>
              <a:rPr>
                <a:latin typeface="Times New Roman"/>
              </a:rPr>
              <a:t>Three modes: bubble, verdict card, call monitoring chip.</a:t>
            </a:r>
          </a:p>
          <a:p>
            <a:r>
              <a:rPr>
                <a:latin typeface="Times New Roman"/>
              </a:rPr>
              <a:t>URL verification against URLhaus and blacklists.</a:t>
            </a:r>
          </a:p>
          <a:p>
            <a:r>
              <a:rPr>
                <a:latin typeface="Times New Roman"/>
              </a:rPr>
              <a:t>Media capture for deepfake analysis.</a:t>
            </a:r>
          </a:p>
          <a:p>
            <a:r>
              <a:rPr>
                <a:latin typeface="Times New Roman"/>
              </a:rPr>
              <a:t>Live call monitoring during active phone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Technologies Used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B48236-2ABF-E760-F3CF-A444CE2A84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968" y="1723464"/>
            <a:ext cx="83918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Flutter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Mobile application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API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Python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Core AI processing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OpenCV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Image and video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Cloud AI model inference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Google </a:t>
            </a:r>
            <a:r>
              <a:rPr kumimoji="0" lang="en-US" altLang="en-US" sz="3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GPU-based model execution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Solidity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Smart contract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IPFS (Pinata)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Decentralized evidence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Polygon Blockchain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Secure evidence anchoring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Working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>
                <a:latin typeface="Times New Roman"/>
              </a:rPr>
              <a:t>Image: Classify type, assign weights, run 6 signals concurrently.</a:t>
            </a:r>
          </a:p>
          <a:p>
            <a:r>
              <a:rPr>
                <a:latin typeface="Times New Roman"/>
              </a:rPr>
              <a:t>Voice: Preprocess audio, run 6 signals, fuse with cloud model.</a:t>
            </a:r>
          </a:p>
          <a:p>
            <a:r>
              <a:rPr>
                <a:latin typeface="Times New Roman"/>
              </a:rPr>
              <a:t>Text: Run 4-signal ensemble with phishing analysis layer.</a:t>
            </a:r>
          </a:p>
          <a:p>
            <a:r>
              <a:rPr>
                <a:latin typeface="Times New Roman"/>
              </a:rPr>
              <a:t>Overlay: Detect app, activate bubble, scan content automatically.</a:t>
            </a:r>
          </a:p>
          <a:p>
            <a:r>
              <a:rPr>
                <a:latin typeface="Times New Roman"/>
              </a:rPr>
              <a:t>Evidence: Hash file, upload IPFS, Merkle batch, anchor on-chain.</a:t>
            </a:r>
          </a:p>
          <a:p>
            <a:r>
              <a:rPr>
                <a:latin typeface="Times New Roman"/>
              </a:rPr>
              <a:t>Dashboard: SSE live feed, toast alerts, batch anchoring.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6A1D-4DE6-973E-1BD6-9B67B13B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478"/>
            <a:ext cx="8229600" cy="114300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78D267-7906-6DAB-15F1-FE1181D24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321" y="1475616"/>
            <a:ext cx="80568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User uploads or captures suspicious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System identifies the media type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Image detection analyzes fake visual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Voice detection checks cloned audio signals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Text detection identifies AI-generated messages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Video detection scans frames for deepfake manipulation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Final verification combines analysis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eiryo" panose="020B0400000000000000" pitchFamily="34" charset="-128"/>
                <a:cs typeface="Times New Roman" panose="02020603050405020304" pitchFamily="18" charset="0"/>
              </a:rPr>
              <a:t>  Generates output with risk score and verdict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968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Testing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>
                <a:latin typeface="Times New Roman"/>
              </a:rPr>
              <a:t>Unit Testing - Individual modules validated.</a:t>
            </a:r>
          </a:p>
          <a:p>
            <a:r>
              <a:rPr>
                <a:latin typeface="Times New Roman"/>
              </a:rPr>
              <a:t>Integration Testing - Frontend-backend communication verified.</a:t>
            </a:r>
          </a:p>
          <a:p>
            <a:r>
              <a:rPr>
                <a:latin typeface="Times New Roman"/>
              </a:rPr>
              <a:t>System Testing - Full application with real-world inputs.</a:t>
            </a:r>
          </a:p>
          <a:p>
            <a:r>
              <a:rPr>
                <a:latin typeface="Times New Roman"/>
              </a:rPr>
              <a:t>User Acceptance Testing - End-user usability evaluation.</a:t>
            </a:r>
          </a:p>
          <a:p>
            <a:r>
              <a:rPr>
                <a:latin typeface="Times New Roman"/>
              </a:rPr>
              <a:t>Performance: response time, speed, reliability assessed.</a:t>
            </a:r>
          </a:p>
          <a:p>
            <a:r>
              <a:rPr>
                <a:latin typeface="Times New Roman"/>
              </a:rPr>
              <a:t>Feedback-driven UI enhancements.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Test Case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00000"/>
          <a:ext cx="82296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Input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Real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Classified as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Deepfake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Classified as 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Real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Real with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TC04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Deepfake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Fake with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TC05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Invalid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Error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Times New Roman"/>
                        </a:rPr>
                        <a:t>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Times New Roman"/>
              </a:rPr>
              <a:t>Image detection: 70-92% accuracy on photographs.</a:t>
            </a:r>
          </a:p>
          <a:p>
            <a:r>
              <a:rPr dirty="0">
                <a:latin typeface="Times New Roman"/>
              </a:rPr>
              <a:t>Type-adaptive weighting prevents false positives on art.</a:t>
            </a:r>
          </a:p>
          <a:p>
            <a:r>
              <a:rPr dirty="0">
                <a:latin typeface="Times New Roman"/>
              </a:rPr>
              <a:t>Voice detection: 65-85% accuracy on audio clips.</a:t>
            </a:r>
          </a:p>
          <a:p>
            <a:r>
              <a:rPr dirty="0">
                <a:latin typeface="Times New Roman"/>
              </a:rPr>
              <a:t>Real-time streaming under 200ms per chunk.</a:t>
            </a:r>
          </a:p>
          <a:p>
            <a:r>
              <a:rPr dirty="0">
                <a:latin typeface="Times New Roman"/>
              </a:rPr>
              <a:t>Text detection: 70-88% on long-form content.</a:t>
            </a:r>
          </a:p>
          <a:p>
            <a:r>
              <a:rPr dirty="0">
                <a:latin typeface="Times New Roman"/>
              </a:rPr>
              <a:t>Local image analysis under 150ms.</a:t>
            </a:r>
          </a:p>
          <a:p>
            <a:r>
              <a:rPr dirty="0">
                <a:latin typeface="Times New Roman"/>
              </a:rPr>
              <a:t>Merkle batching reduces costs by 99.7%.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28F4-5403-568A-9F95-1621759F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A54CE86-3D36-96A9-DD2F-FA8389BFB7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28987"/>
            <a:ext cx="794801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Cybercrime departments for fraud investigation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Social media protection from fake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Banking fraud prevention from scam calls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Law enforcement for case investigation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Digital forensic teams for evidence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Public safety from online threats </a:t>
            </a:r>
          </a:p>
        </p:txBody>
      </p:sp>
    </p:spTree>
    <p:extLst>
      <p:ext uri="{BB962C8B-B14F-4D97-AF65-F5344CB8AC3E}">
        <p14:creationId xmlns:p14="http://schemas.microsoft.com/office/powerpoint/2010/main" val="3473950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/>
              </a:rPr>
              <a:t>Home Page</a:t>
            </a:r>
            <a:endParaRPr dirty="0">
              <a:latin typeface="Times New Roman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135A2A-F2C5-6B3C-C490-3A422B18B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3658" y="1600200"/>
            <a:ext cx="2036683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/>
              </a:rPr>
              <a:t>Real-Time Protection Overlay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11EAD9-B6CD-4583-2ED9-A2A3806C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491" y="1720645"/>
            <a:ext cx="2156952" cy="479322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EF9B-BC1B-082E-26F1-B7DF564F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Evidence Filing Confirmation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848355-B620-DA99-B80A-A0466A429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000" y="1718187"/>
            <a:ext cx="2036683" cy="4525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1765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Cybercrime Investigation Web Dashboard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6D05C-71CE-97C3-1951-E3CC3FDE6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18957"/>
            <a:ext cx="7954297" cy="4021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Future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Times New Roman"/>
              </a:rPr>
              <a:t>Deploy quantized models locally via ONNX Runtime.</a:t>
            </a:r>
          </a:p>
          <a:p>
            <a:r>
              <a:rPr dirty="0">
                <a:latin typeface="Times New Roman"/>
              </a:rPr>
              <a:t>Adversarial robustness testing against evasion attacks.</a:t>
            </a:r>
          </a:p>
          <a:p>
            <a:r>
              <a:rPr dirty="0">
                <a:latin typeface="Times New Roman"/>
              </a:rPr>
              <a:t>Cross-modal fusion for multi-modal documents.</a:t>
            </a:r>
          </a:p>
          <a:p>
            <a:r>
              <a:rPr dirty="0">
                <a:latin typeface="Times New Roman"/>
              </a:rPr>
              <a:t>Migrate from Polygon Amoy </a:t>
            </a:r>
            <a:r>
              <a:rPr dirty="0" err="1">
                <a:latin typeface="Times New Roman"/>
              </a:rPr>
              <a:t>testnet</a:t>
            </a:r>
            <a:r>
              <a:rPr dirty="0">
                <a:latin typeface="Times New Roman"/>
              </a:rPr>
              <a:t> to </a:t>
            </a:r>
            <a:r>
              <a:rPr dirty="0" err="1">
                <a:latin typeface="Times New Roman"/>
              </a:rPr>
              <a:t>mainnet</a:t>
            </a:r>
            <a:r>
              <a:rPr dirty="0">
                <a:latin typeface="Times New Roman"/>
              </a:rPr>
              <a:t>.</a:t>
            </a:r>
          </a:p>
          <a:p>
            <a:r>
              <a:rPr dirty="0">
                <a:latin typeface="Times New Roman"/>
              </a:rPr>
              <a:t>Extend overlay system to iOS.</a:t>
            </a:r>
          </a:p>
          <a:p>
            <a:r>
              <a:rPr dirty="0">
                <a:latin typeface="Times New Roman"/>
              </a:rPr>
              <a:t>On-device NLP for SMS phishing detection.</a:t>
            </a:r>
          </a:p>
          <a:p>
            <a:r>
              <a:rPr dirty="0">
                <a:latin typeface="Times New Roman"/>
              </a:rPr>
              <a:t>Continuous retraining for new AI techniques.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 err="1">
                <a:latin typeface="Times New Roman"/>
              </a:rPr>
              <a:t>RiskGuard</a:t>
            </a:r>
            <a:r>
              <a:rPr dirty="0">
                <a:latin typeface="Times New Roman"/>
              </a:rPr>
              <a:t> integrates detection, evidence, and real-time protection.</a:t>
            </a:r>
          </a:p>
          <a:p>
            <a:r>
              <a:rPr dirty="0">
                <a:latin typeface="Times New Roman"/>
              </a:rPr>
              <a:t>Production-grade detection on commodity hardware.</a:t>
            </a:r>
          </a:p>
          <a:p>
            <a:r>
              <a:rPr dirty="0">
                <a:latin typeface="Times New Roman"/>
              </a:rPr>
              <a:t>Type-adaptive image ensemble prevents false positives.</a:t>
            </a:r>
          </a:p>
          <a:p>
            <a:r>
              <a:rPr dirty="0">
                <a:latin typeface="Times New Roman"/>
              </a:rPr>
              <a:t>Voice pipeline achieves real-time under 200ms.</a:t>
            </a:r>
          </a:p>
          <a:p>
            <a:r>
              <a:rPr dirty="0">
                <a:latin typeface="Times New Roman"/>
              </a:rPr>
              <a:t>Blockchain costs reduced 99.7% via Merkle batching.</a:t>
            </a:r>
          </a:p>
          <a:p>
            <a:r>
              <a:rPr dirty="0">
                <a:latin typeface="Times New Roman"/>
              </a:rPr>
              <a:t>Overlay provides continuous background monitoring.</a:t>
            </a:r>
          </a:p>
          <a:p>
            <a:r>
              <a:rPr dirty="0">
                <a:latin typeface="Times New Roman"/>
              </a:rPr>
              <a:t>Dual interface serves citizens and law enforcement.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95A6F-1613-03D3-2309-24816478E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24" y="678427"/>
            <a:ext cx="7745152" cy="55381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088D1-81F5-19D1-BA99-839208317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32" y="599768"/>
            <a:ext cx="7957736" cy="56633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F6D66-DC42-6028-2D0C-A5F776EF1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7" y="658761"/>
            <a:ext cx="8003458" cy="56043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604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1462</Words>
  <Application>Microsoft Office PowerPoint</Application>
  <PresentationFormat>On-screen Show (4:3)</PresentationFormat>
  <Paragraphs>228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Times New Roman</vt:lpstr>
      <vt:lpstr>Office Theme</vt:lpstr>
      <vt:lpstr>RISK GUARD</vt:lpstr>
      <vt:lpstr>Introduction</vt:lpstr>
      <vt:lpstr>Abstract</vt:lpstr>
      <vt:lpstr>Need for System</vt:lpstr>
      <vt:lpstr>Problem Statement</vt:lpstr>
      <vt:lpstr>Objectives</vt:lpstr>
      <vt:lpstr>Existing System</vt:lpstr>
      <vt:lpstr>Limitations of Existing System</vt:lpstr>
      <vt:lpstr>Proposed System</vt:lpstr>
      <vt:lpstr>Advantages of Proposed System</vt:lpstr>
      <vt:lpstr>System Architecture - Overview</vt:lpstr>
      <vt:lpstr>Image Analysis Module</vt:lpstr>
      <vt:lpstr>Voice Analysis Module</vt:lpstr>
      <vt:lpstr>Text Analysis Module</vt:lpstr>
      <vt:lpstr>Video Analysis Module</vt:lpstr>
      <vt:lpstr>Blockchain Evidence Module</vt:lpstr>
      <vt:lpstr>Real-Time Protection Overlay</vt:lpstr>
      <vt:lpstr>Technologies Used</vt:lpstr>
      <vt:lpstr>Working of the System</vt:lpstr>
      <vt:lpstr>Detection Workflow</vt:lpstr>
      <vt:lpstr>Testing and Evaluation</vt:lpstr>
      <vt:lpstr>Test Case Results</vt:lpstr>
      <vt:lpstr>Performance Analysis</vt:lpstr>
      <vt:lpstr>Applications</vt:lpstr>
      <vt:lpstr>Home Page</vt:lpstr>
      <vt:lpstr>Real-Time Protection Overlay</vt:lpstr>
      <vt:lpstr>Blockchain Evidence Filing Confirmation</vt:lpstr>
      <vt:lpstr>Cybercrime Investigation Web Dashboard</vt:lpstr>
      <vt:lpstr>Future Enhancements</vt:lpstr>
      <vt:lpstr>Conclusion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S0369232</cp:lastModifiedBy>
  <cp:revision>17</cp:revision>
  <dcterms:created xsi:type="dcterms:W3CDTF">2013-01-27T09:14:16Z</dcterms:created>
  <dcterms:modified xsi:type="dcterms:W3CDTF">2026-04-25T11:12:27Z</dcterms:modified>
  <cp:category/>
</cp:coreProperties>
</file>